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 zero background. Nobody here has deployed anything. Say that out loud so people relax: 'if you have never heard any of these words, you are exactly who this is for.'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who has heard of Docker, who has run it, who has touched Kubernetes. Calibrate from there.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if you can. Everything hangs off it — a container is literally a way to ship the middle four layers together.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has lost an evening to a setup problem that was not their code. Almost every hand goes up. That is the hook.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all three attempts out loud: documentation (fails), VMs (works, far too heavy), containers. The insight: two Linux apps already share a kernel, so stop copying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valuable sentence of the session: 'a container is a process that has been lied to.' Say it twice.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Someone always asks 'is Docker dead?' — Kubernetes stopped using dockerd internally in 2022. You still build Docker images. The image format is a standard.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remember one table from the whole session, make it this one.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happens once, at build time. CMD happens every time a container starts. That distinction trips up everyone.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WHY before you explain. Somebody will get it, and that moment beats the slide.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explains, in advance, why scaling the API to 5 replicas later is easy and why we never scale Postgres.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hinge of the session. Do not rush it — every Kubernetes feature answers one of these bullets.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analogy that lands: a thermostat. You do not switch the heater on and off all night. You say 22 degrees, and it works out the rest.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etcd is lost, the cluster's memory is lost — which is why production clusters run three or five copies of it.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#1 beginner bug in the entire ecosystem: labels and selector disagree, so the Service has zero endpoints and the page just hangs. Check it with `kubectl get endpoints`.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base64 -d command live. Five seconds, remembered for years. Plenty of professionals believe Secrets are encrypted.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scaling back to the stateless/stateful slide: this only works because the API is stateless. Try it on Postgres and you corrupt data.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hostname line — os.hostname() — is the trick of the session. In Docker it prints a container ID; in Kubernetes, a pod name. If the Postgres install is slow, narrate it instead; the struggle IS the content.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WHY it failed before you explain it.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CLUSTER BEFORE THE SESSION. It takes 1-3 minutes on good wifi and much longer on bad wifi.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'Served by' hostname changing as you refresh is the single best demo in the session. Let it run.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Events section at the bottom of `kubectl describe pod` answers nine out of ten 'why will it not start' questions. Say so explicitly.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rgbClr val="1D3A1C"/>
          </a:solidFill>
          <a:latin typeface="Arial"/>
        </a:defRPr>
      </a:lvl1pPr>
    </p:titleStyle>
    <p:bodyStyle>
      <a:lvl1pPr>
        <a:defRPr sz="1800">
          <a:solidFill>
            <a:srgbClr val="1D3A1C"/>
          </a:solidFill>
          <a:latin typeface="Arial"/>
        </a:defRPr>
      </a:lvl1pPr>
    </p:bodyStyle>
    <p:otherStyle>
      <a:lvl1pPr>
        <a:defRPr sz="1800">
          <a:solidFill>
            <a:srgbClr val="1D3A1C"/>
          </a:solidFill>
          <a:latin typeface="Arial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syscall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shared kernel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cgroups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cgroups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PID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DEDACA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4000" b="1" i="0" dirty="0">
                <a:solidFill>
                  <a:srgbClr val="1D3A1C"/>
                </a:solidFill>
                <a:latin typeface="Arial"/>
                <a:cs typeface="Arial"/>
              </a:rPr>
              <a:t>Docker &amp; Kubernetes</a:t>
            </a:r>
          </a:p>
        </p:txBody>
      </p:sp>
      <p:sp>
        <p:nvSpPr>
          <p:cNvPr id="19" name="Bar 19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5C6B52"/>
                </a:solidFill>
                <a:latin typeface="Arial"/>
                <a:cs typeface="Arial"/>
              </a:rPr>
              <a:t>What containers are, why they exist, and how clusters run them</a:t>
            </a:r>
          </a:p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5C6B52"/>
                </a:solidFill>
                <a:latin typeface="Arial"/>
                <a:cs typeface="Arial"/>
              </a:rPr>
              <a:t>North South University · Introductory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syscall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we are actually answering today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vocabulary and mental-model session, not a command tutorial.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3600907"/>
                <a:gridCol w="731093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The answer we will build up to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Why is shipping software hard?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An app is code PLUS a whole environment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a container?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process the kernel isolates, so it carries its environment with it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Docker?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tool that builds and runs containers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Why is one machine not enough?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 fails, it fills up, and it cannot be updated without downtime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What is Kubernetes?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system that keeps containers running correctly across many machines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No question is too basic — stop me the moment a word is unfamiliar. Everything is in the repo; you never need to copy from a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shared kernel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cgroups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union filesystem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1 — Why containers exist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problem, and the idea that solved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First: what does “running an app” actually need?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Your code is the smallest part of what has to be correct.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600201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YOUR CODE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server.js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600201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part you wrote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362624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LIBRARIES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express, pg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2362624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code other people wrote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125047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RUNTIME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Node 18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3422" y="3125047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thing that executes it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3887470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SYSTEM LIBRARIES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glibc, OpenSSL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3887470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OS's shared plumbing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4649893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OPERATING SYSTEM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Linux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3422" y="4649893"/>
            <a:ext cx="2768498" cy="533823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files, processes, network</a:t>
            </a:r>
          </a:p>
        </p:txBody>
      </p:sp>
      <p:sp>
        <p:nvSpPr>
          <p:cNvPr id="18" name="Box 18"/>
          <p:cNvSpPr/>
          <p:nvPr/>
        </p:nvSpPr>
        <p:spPr>
          <a:xfrm>
            <a:off x="640080" y="5412316"/>
            <a:ext cx="8074762" cy="53382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HARDWARE  /  VM</a:t>
            </a:r>
          </a:p>
        </p:txBody>
      </p:sp>
      <p:sp>
        <p:nvSpPr>
          <p:cNvPr id="19" name="Conn 19"/>
          <p:cNvSpPr/>
          <p:nvPr/>
        </p:nvSpPr>
        <p:spPr>
          <a:xfrm>
            <a:off x="4677461" y="2156884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4677461" y="2919307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4677461" y="368173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4677461" y="4444153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4677461" y="5206576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Bar 2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Change any one layer and the app can break. "It works" means all six happen to agree.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chroot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oldest sentence in software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“But it works on my machine.”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34112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Rakib writes it on Ubuntu, Node 20, Postgres 16 — works perfectly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Nusrat pulls the same code on macOS with Node 16 — crashes on startup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The university server has Node 18 and no database — every request 500s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What differs: OS version, runtime version, system libraries, installed services, environment variables, file paths, locale, timezone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Nobody wrote bad code. Your app is not just your code — it is your code plus everything it assumes about the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hypervisor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glibc vs musl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“It works on my machine.”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Fine. Then we will ship your machine.
That sentence is, almost literally, what a container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/proc/self/ns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Three attempts at fixing it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Write it down → ship the whole computer → ship only the part that differs.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5019446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50" b="1" i="0" spc="120" dirty="0">
                <a:solidFill>
                  <a:srgbClr val="1D3A1C"/>
                </a:solidFill>
                <a:latin typeface="Courier New"/>
                <a:cs typeface="Courier New"/>
              </a:rPr>
              <a:t>VIRTUAL MACHINES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0" name="Box 10"/>
          <p:cNvSpPr/>
          <p:nvPr/>
        </p:nvSpPr>
        <p:spPr>
          <a:xfrm>
            <a:off x="2322372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1" name="Box 11"/>
          <p:cNvSpPr/>
          <p:nvPr/>
        </p:nvSpPr>
        <p:spPr>
          <a:xfrm>
            <a:off x="4004664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3" name="Box 13"/>
          <p:cNvSpPr/>
          <p:nvPr/>
        </p:nvSpPr>
        <p:spPr>
          <a:xfrm>
            <a:off x="2322372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4" name="Box 14"/>
          <p:cNvSpPr/>
          <p:nvPr/>
        </p:nvSpPr>
        <p:spPr>
          <a:xfrm>
            <a:off x="4004664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15" name="Box 15"/>
          <p:cNvSpPr/>
          <p:nvPr/>
        </p:nvSpPr>
        <p:spPr>
          <a:xfrm>
            <a:off x="640080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6" name="Box 16"/>
          <p:cNvSpPr/>
          <p:nvPr/>
        </p:nvSpPr>
        <p:spPr>
          <a:xfrm>
            <a:off x="2322372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7" name="Box 17"/>
          <p:cNvSpPr/>
          <p:nvPr/>
        </p:nvSpPr>
        <p:spPr>
          <a:xfrm>
            <a:off x="4004664" y="303123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Guest OS</a:t>
            </a:r>
          </a:p>
        </p:txBody>
      </p:sp>
      <p:sp>
        <p:nvSpPr>
          <p:cNvPr id="18" name="Box 18"/>
          <p:cNvSpPr/>
          <p:nvPr/>
        </p:nvSpPr>
        <p:spPr>
          <a:xfrm>
            <a:off x="640080" y="357987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2250F"/>
                </a:solidFill>
                <a:latin typeface="Arial"/>
                <a:cs typeface="Arial"/>
              </a:rPr>
              <a:t>Hypervisor</a:t>
            </a:r>
          </a:p>
        </p:txBody>
      </p:sp>
      <p:sp>
        <p:nvSpPr>
          <p:cNvPr id="19" name="Box 19"/>
          <p:cNvSpPr/>
          <p:nvPr/>
        </p:nvSpPr>
        <p:spPr>
          <a:xfrm>
            <a:off x="640080" y="412851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Host OS</a:t>
            </a:r>
          </a:p>
        </p:txBody>
      </p:sp>
      <p:sp>
        <p:nvSpPr>
          <p:cNvPr id="20" name="Box 20"/>
          <p:cNvSpPr/>
          <p:nvPr/>
        </p:nvSpPr>
        <p:spPr>
          <a:xfrm>
            <a:off x="640080" y="467715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Hardware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0080" y="5257800"/>
            <a:ext cx="5019446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0" i="1" dirty="0">
                <a:solidFill>
                  <a:srgbClr val="3E6B33"/>
                </a:solidFill>
                <a:latin typeface="Arial"/>
                <a:cs typeface="Arial"/>
              </a:rPr>
              <a:t>gigabytes · minutes to boot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32473" y="1600200"/>
            <a:ext cx="5019446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50" b="1" i="0" spc="120" dirty="0">
                <a:solidFill>
                  <a:srgbClr val="1D3A1C"/>
                </a:solidFill>
                <a:latin typeface="Courier New"/>
                <a:cs typeface="Courier New"/>
              </a:rPr>
              <a:t>CONTAINERS</a:t>
            </a:r>
          </a:p>
        </p:txBody>
      </p:sp>
      <p:sp>
        <p:nvSpPr>
          <p:cNvPr id="23" name="Box 23"/>
          <p:cNvSpPr/>
          <p:nvPr/>
        </p:nvSpPr>
        <p:spPr>
          <a:xfrm>
            <a:off x="6532473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4" name="Box 24"/>
          <p:cNvSpPr/>
          <p:nvPr/>
        </p:nvSpPr>
        <p:spPr>
          <a:xfrm>
            <a:off x="8214765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5" name="Box 25"/>
          <p:cNvSpPr/>
          <p:nvPr/>
        </p:nvSpPr>
        <p:spPr>
          <a:xfrm>
            <a:off x="9897057" y="193395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App</a:t>
            </a:r>
          </a:p>
        </p:txBody>
      </p:sp>
      <p:sp>
        <p:nvSpPr>
          <p:cNvPr id="26" name="Box 26"/>
          <p:cNvSpPr/>
          <p:nvPr/>
        </p:nvSpPr>
        <p:spPr>
          <a:xfrm>
            <a:off x="6532473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7" name="Box 27"/>
          <p:cNvSpPr/>
          <p:nvPr/>
        </p:nvSpPr>
        <p:spPr>
          <a:xfrm>
            <a:off x="8214765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8" name="Box 28"/>
          <p:cNvSpPr/>
          <p:nvPr/>
        </p:nvSpPr>
        <p:spPr>
          <a:xfrm>
            <a:off x="9897057" y="2482596"/>
            <a:ext cx="1654860" cy="521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Libs</a:t>
            </a:r>
          </a:p>
        </p:txBody>
      </p:sp>
      <p:sp>
        <p:nvSpPr>
          <p:cNvPr id="29" name="Box 29"/>
          <p:cNvSpPr/>
          <p:nvPr/>
        </p:nvSpPr>
        <p:spPr>
          <a:xfrm>
            <a:off x="6532473" y="303123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2250F"/>
                </a:solidFill>
                <a:latin typeface="Arial"/>
                <a:cs typeface="Arial"/>
              </a:rPr>
              <a:t>Container runtime</a:t>
            </a:r>
          </a:p>
        </p:txBody>
      </p:sp>
      <p:sp>
        <p:nvSpPr>
          <p:cNvPr id="30" name="Box 30"/>
          <p:cNvSpPr/>
          <p:nvPr/>
        </p:nvSpPr>
        <p:spPr>
          <a:xfrm>
            <a:off x="6532473" y="357987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F6F3E7"/>
                </a:solidFill>
                <a:latin typeface="Arial"/>
                <a:cs typeface="Arial"/>
              </a:rPr>
              <a:t>Host OS  —  ONE kernel, shared by all</a:t>
            </a:r>
          </a:p>
        </p:txBody>
      </p:sp>
      <p:sp>
        <p:nvSpPr>
          <p:cNvPr id="31" name="Box 31"/>
          <p:cNvSpPr/>
          <p:nvPr/>
        </p:nvSpPr>
        <p:spPr>
          <a:xfrm>
            <a:off x="6532473" y="4128516"/>
            <a:ext cx="5019446" cy="521208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050" b="1" i="0" dirty="0">
                <a:solidFill>
                  <a:srgbClr val="1D3A1C"/>
                </a:solidFill>
                <a:latin typeface="Arial"/>
                <a:cs typeface="Arial"/>
              </a:rPr>
              <a:t>Hardware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32473" y="4709160"/>
            <a:ext cx="5019446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0" i="1" dirty="0">
                <a:solidFill>
                  <a:srgbClr val="3E6B33"/>
                </a:solidFill>
                <a:latin typeface="Arial"/>
                <a:cs typeface="Arial"/>
              </a:rPr>
              <a:t>megabytes · under a second</a:t>
            </a:r>
          </a:p>
        </p:txBody>
      </p:sp>
      <p:sp>
        <p:nvSpPr>
          <p:cNvPr id="33" name="Bar 33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README goes stale in a week. A VM duplicates an entire operating system per app. Containers delete one row from that picture — and that row is worth gigabytes and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copy-on-write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guest 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🗄️   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Same job, very different luggage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A VM packs its own kitchen, bathroom and roof.
A container packs a toothbrush and uses yours.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So what IS a container?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 a small virtual machine. An ordinary Linux process the kernel has fenced in.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2182368"/>
                <a:gridCol w="8729472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Ingredient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the kernel does with it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namespaces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private view of one resource each: its own process list (PID), its own network and IP (NET), its own filesystem tree (MNT), its own hostname (UTS). It cannot see yours.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cgroups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cap on what it may USE: half a core, 512 MB of memory, so much disk and network. Without this, one container starves every other one.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layered filesystem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Its own root filesystem, assembled from stacked read-only layers plus one thin writable layer on top.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Namespaces decide what it can SEE. cgroups decide what it can USE. Run `ps aux` on the host and the container's process is sitting right there in the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127.0.0.1:5432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$PATH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ECONNREFUSED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🪞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A container is a process that has been lied 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kernel tells it that it is alone in the universe:
its own processes, its own network, its own filesystem.
It believes every word.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0X3F3F3F3F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layered filesystem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Why images are small to store and instant to start.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WRITABLE LAYER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files changed while running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this container only — deleted when it dies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4  ·  your source code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3  ·  npm packages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read-only, and SHARED by every container built from this image</a:t>
            </a:r>
          </a:p>
        </p:txBody>
      </p:sp>
      <p:sp>
        <p:nvSpPr>
          <p:cNvPr id="13" name="Box 13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2  ·  Node 18 runtime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layer 1  ·  Alpine Linux files</a:t>
            </a:r>
          </a:p>
        </p:txBody>
      </p:sp>
      <p:sp>
        <p:nvSpPr>
          <p:cNvPr id="15" name="Conn 15"/>
          <p:cNvSpPr/>
          <p:nvPr/>
        </p:nvSpPr>
        <p:spPr>
          <a:xfrm>
            <a:off x="4677461" y="23787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4677461" y="32473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4677461" y="411607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4677461" y="49847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Bar 1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Ten containers from one image share the read-only layers, stored once. Starting one copies nothing — it just adds a new top layer. And when it dies, that top layer dies with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O(N LOG 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#!/BIN/BASH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GIT COMMIT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FROM node:18-alpine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COPY package.json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CMD ["node"]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ps -a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.dockerignore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2 — Docker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The tool that builds and runs containers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SHA-256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is Docker, precisely?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Docker did not invent containers. It made them usable by ordinary people.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docker CLI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the command you type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dockerd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258445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background service, does the real work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manages the container lifecycle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runc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432181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actually talks to the kernel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Linux kernel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namespaces + cgroups</a:t>
            </a:r>
          </a:p>
        </p:txBody>
      </p:sp>
      <p:sp>
        <p:nvSpPr>
          <p:cNvPr id="17" name="Conn 17"/>
          <p:cNvSpPr/>
          <p:nvPr/>
        </p:nvSpPr>
        <p:spPr>
          <a:xfrm>
            <a:off x="4677461" y="23787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40080" y="227965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over a socket</a:t>
            </a:r>
          </a:p>
        </p:txBody>
      </p:sp>
      <p:sp>
        <p:nvSpPr>
          <p:cNvPr id="19" name="Conn 19"/>
          <p:cNvSpPr/>
          <p:nvPr/>
        </p:nvSpPr>
        <p:spPr>
          <a:xfrm>
            <a:off x="4677461" y="32473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4677461" y="411607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4677461" y="49847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Bar 22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only ever touch the top box. The lower three follow the OCI standard — which is why Podman, containerd and Kubernetes can all run the same images.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two words people mix up forever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Image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Container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file. Sits on disk doing nothing.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running process.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Read-only, frozen. Built once.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Has live state, memory, logs.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 class in your code.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an object created from that class.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a recipe.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Like the meal you cooked from it.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Courier New"/>
                          <a:cs typeface="Courier New"/>
                        </a:rPr>
                        <a:t>nsu-guestbook:v1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thing listed by `docker ps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One image can produce a thousand identical containers. That single fact is the entire scaling story later.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EXIT 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Dockerfile, and the one habit that matters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recipe. Each instruction becomes a cached layer.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FROM node:18-alpine          # base image                  &lt;- cached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WORKDIR /app                 # cd, inside the image        &lt;- cached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COPY package.json ./         # ONLY the dependency list    &lt;- cached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RUN npm install --omit=dev   # the slow one, 60 seconds    &lt;- cached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COPY . .                     # now the source          &lt;- REBUILDS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EXPOSE 3000                  # documents the port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USER node                    # do not run as root. free win.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CMD ["node", "server.js"]    # what runs WHEN IT STARTS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Copy package.json and install BEFORE the source, or every code change reinstalls every dependency. Once one layer is invalidated, everything after it rebuilds too.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WORKDIR /app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Ports — how the outside gets in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87630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docker run -p 8080:3000 myapp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----  ----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|      +-- port INSIDE the container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+--------- port on YOUR machine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BROWSER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localhost:8080</a:t>
            </a:r>
          </a:p>
        </p:txBody>
      </p:sp>
      <p:sp>
        <p:nvSpPr>
          <p:cNvPr id="9" name="Box 9"/>
          <p:cNvSpPr/>
          <p:nvPr/>
        </p:nvSpPr>
        <p:spPr>
          <a:xfrm>
            <a:off x="3518077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YOUR MACHINE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port 8080 published</a:t>
            </a:r>
          </a:p>
        </p:txBody>
      </p:sp>
      <p:sp>
        <p:nvSpPr>
          <p:cNvPr id="10" name="Box 10"/>
          <p:cNvSpPr/>
          <p:nvPr/>
        </p:nvSpPr>
        <p:spPr>
          <a:xfrm>
            <a:off x="6396074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CONTAINER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port 3000</a:t>
            </a:r>
          </a:p>
        </p:txBody>
      </p:sp>
      <p:sp>
        <p:nvSpPr>
          <p:cNvPr id="11" name="Box 11"/>
          <p:cNvSpPr/>
          <p:nvPr/>
        </p:nvSpPr>
        <p:spPr>
          <a:xfrm>
            <a:off x="9274071" y="2316480"/>
            <a:ext cx="2277846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YOUR APP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listening</a:t>
            </a:r>
          </a:p>
        </p:txBody>
      </p:sp>
      <p:sp>
        <p:nvSpPr>
          <p:cNvPr id="12" name="Conn 12"/>
          <p:cNvSpPr/>
          <p:nvPr/>
        </p:nvSpPr>
        <p:spPr>
          <a:xfrm>
            <a:off x="2945358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Conn 13"/>
          <p:cNvSpPr/>
          <p:nvPr/>
        </p:nvSpPr>
        <p:spPr>
          <a:xfrm>
            <a:off x="5823355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Conn 14"/>
          <p:cNvSpPr/>
          <p:nvPr/>
        </p:nvSpPr>
        <p:spPr>
          <a:xfrm>
            <a:off x="8701352" y="2636520"/>
            <a:ext cx="545287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5" name="Bar 1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EXPOSE in the Dockerfile only documents intent — `-p` is what actually opens the door. "It runs but I cannot open it in the browser" is nearly always a missing -p.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build 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healthcheck: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networking mistake everyone makes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Inside a container, `localhost` means THAT CONTAINER. Not your laptop.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04013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Each container gets its own network namespace and its own IP address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Two containers on the same user-defined network reach each other by NAME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Docker runs a small DNS server that resolves those names to IPs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2731770"/>
            <a:ext cx="10911840" cy="52959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DB_HOST=localhost   # wrong inside a container -- it means itself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DB_HOST=db          # right -- the NAME of the other container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We will hit this live in Checkpoint 2, on purpose. Learn the shape of the error: ECONNREFUSED 127.0.0.1:5432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RUN npm install --omit=dev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Storage, and the idea everything rests on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Nothing written inside a container survives the container.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7391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volume is storage Docker manages OUTSIDE the container — use it for real data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bind mount maps a folder from your machine in — use it to live-edit code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0080" y="243078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Stateless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Stateful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Keeps nothing important in itself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Owns data that must survive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Any copy can serve any request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Copies are not interchangeable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Kill it, restart it, nothing is lost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Kill it carelessly and you lose data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Trivial to run ten of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Hard to run more than one correctly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Your API, web server, worker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Postgres, MySQL, Redis, file storage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Containers are cattle, volumes are pets. Docker and Kubernetes are brilliant at stateless things and merely adequate at stateful 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USER node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Docker Compose — several containers, one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Real apps are more than one container. Typing `docker run` for each is not a plan.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26314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services: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db: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image: postgres:16-alpine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volumes: [ db_data:/var/lib/postgresql/data 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healthcheck: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test: ["CMD-SHELL", "pg_isready -U nsu -d nsu_demo"]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api: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build: 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ports: [ "8080:3000" ]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environment: { DB_HOST: db }    # &lt;- the service NAME, not an IP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depends_on: { db: { condition: service_healthy }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volumes: { db_data: }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Compose puts every service on one network and gives each a DNS name equal to its service name. Hold on to that — Kubernetes Services work the same way, for the same reason.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EXPOSE 3000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Where Docker stops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You launch tonight. Real users. What does Docker not do for you?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9431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It runs on ONE machine — getting to two is entirely your problem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Your app crashes at 3 a.m. and nothing restarts it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Deploying a new version means stopping the old one: downtime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container that hangs without exiting keeps receiving traffic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 rollback button when the new version turns out to be broken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 way to spread containers across machines by available capacity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Docker BUILDS and RUNS containers. It does not OPERATE them. That gap has a name: orchestration.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exec -it sh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logs -f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named volume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3 — Kubernetes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Operating containers, across many machines, without you watching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run -p 8080:3000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Kubernetes is, and what it is not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40 containers, 6 machines. Somebody must decide what runs where — and fix it when it breaks.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40080" y="1600200"/>
          <a:ext cx="10911840" cy="164592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It IS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It is NOT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system that keeps containers running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thing that writes or builds your app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scheduler that places them on machines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replacement for Docker images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self-healing controller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Automatic — you still describe what you want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 stable naming and load-balancing layer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Simple — the learning curve is real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Portable across clouds and on-premises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Necessary for most small projects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Google ran containers internally for a decade on a system called Borg; Kubernetes is the 2014 open-source redesign of those ideas. Greek for "helmsman" — hence the ship's wheel. "K8s" is K, eight letters, 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layer cached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one idea: declare, do not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IMPERATIVE  (Docker)        "start a container"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You said WHAT TO DO, once.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If it dies later, that is your problem.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DECLARATIVE (Kubernetes)    "I want 3 healthy copies of this image"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You said WHAT SHOULD BE TRUE, always.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                          Something works continuously to keep it true.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stop giving orders and start describing the desired end state. Everything else in this session follows from that one shift.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up -d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How that works: the control loop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1731264" y="118872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D3A1C"/>
                </a:solidFill>
                <a:latin typeface="Arial"/>
                <a:cs typeface="Arial"/>
              </a:rPr>
              <a:t>OBSERVE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D3A1C"/>
                </a:solidFill>
                <a:latin typeface="Arial"/>
                <a:cs typeface="Arial"/>
              </a:rPr>
              <a:t>what is actually running?</a:t>
            </a:r>
          </a:p>
        </p:txBody>
      </p:sp>
      <p:sp>
        <p:nvSpPr>
          <p:cNvPr id="8" name="Box 8"/>
          <p:cNvSpPr/>
          <p:nvPr/>
        </p:nvSpPr>
        <p:spPr>
          <a:xfrm>
            <a:off x="6750711" y="118872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2250F"/>
                </a:solidFill>
                <a:latin typeface="Arial"/>
                <a:cs typeface="Arial"/>
              </a:rPr>
              <a:t>COMPARE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2250F"/>
                </a:solidFill>
                <a:latin typeface="Arial"/>
                <a:cs typeface="Arial"/>
              </a:rPr>
              <a:t>against what you asked for</a:t>
            </a:r>
          </a:p>
        </p:txBody>
      </p:sp>
      <p:sp>
        <p:nvSpPr>
          <p:cNvPr id="9" name="Box 9"/>
          <p:cNvSpPr/>
          <p:nvPr/>
        </p:nvSpPr>
        <p:spPr>
          <a:xfrm>
            <a:off x="6750711" y="246888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F6F3E7"/>
                </a:solidFill>
                <a:latin typeface="Arial"/>
                <a:cs typeface="Arial"/>
              </a:rPr>
              <a:t>ACT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F6F3E7"/>
                </a:solidFill>
                <a:latin typeface="Arial"/>
                <a:cs typeface="Arial"/>
              </a:rPr>
              <a:t>create · delete · restart</a:t>
            </a:r>
          </a:p>
        </p:txBody>
      </p:sp>
      <p:sp>
        <p:nvSpPr>
          <p:cNvPr id="10" name="Box 10"/>
          <p:cNvSpPr/>
          <p:nvPr/>
        </p:nvSpPr>
        <p:spPr>
          <a:xfrm>
            <a:off x="1731264" y="2468880"/>
            <a:ext cx="3710025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00" b="1" i="0" dirty="0">
                <a:solidFill>
                  <a:srgbClr val="1D3A1C"/>
                </a:solidFill>
                <a:latin typeface="Arial"/>
                <a:cs typeface="Arial"/>
              </a:rPr>
              <a:t>REPEAT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850" b="0" i="1" dirty="0">
                <a:solidFill>
                  <a:srgbClr val="1D3A1C"/>
                </a:solidFill>
                <a:latin typeface="Arial"/>
                <a:cs typeface="Arial"/>
              </a:rPr>
              <a:t>nothing is ever 'done'</a:t>
            </a:r>
          </a:p>
        </p:txBody>
      </p:sp>
      <p:sp>
        <p:nvSpPr>
          <p:cNvPr id="11" name="Conn 11"/>
          <p:cNvSpPr/>
          <p:nvPr/>
        </p:nvSpPr>
        <p:spPr>
          <a:xfrm>
            <a:off x="5464149" y="1508760"/>
            <a:ext cx="1263702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2" name="Conn 12"/>
          <p:cNvSpPr/>
          <p:nvPr/>
        </p:nvSpPr>
        <p:spPr>
          <a:xfrm>
            <a:off x="8605723" y="1851660"/>
            <a:ext cx="0" cy="59436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3" name="Conn 13"/>
          <p:cNvSpPr/>
          <p:nvPr/>
        </p:nvSpPr>
        <p:spPr>
          <a:xfrm flipH="1">
            <a:off x="5464149" y="2788920"/>
            <a:ext cx="1263702" cy="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4" name="Conn 14"/>
          <p:cNvSpPr/>
          <p:nvPr/>
        </p:nvSpPr>
        <p:spPr>
          <a:xfrm flipV="1">
            <a:off x="3586276" y="1851660"/>
            <a:ext cx="0" cy="59436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3695396" y="1988820"/>
            <a:ext cx="4801209" cy="32004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050" b="1" i="0" dirty="0">
                <a:solidFill>
                  <a:srgbClr val="3E6B33"/>
                </a:solidFill>
                <a:latin typeface="Arial"/>
                <a:cs typeface="Arial"/>
              </a:rPr>
              <a:t>forever,
every few seconds</a:t>
            </a:r>
          </a:p>
        </p:txBody>
      </p:sp>
      <p:sp>
        <p:nvSpPr>
          <p:cNvPr id="16" name="Bar 1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"controller" is just a program running this loop for one kind of object. Desired: 3 pods. Actual: 2. Action: create 1. Loop again. That is reconciliation, and it is all of Kubernetes.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multi-stage build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depends_on: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🌡️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Kubernetes is a thermostat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You do not switch the heater on and off all night.
You say “22 degrees”, and it argues with reality on your behalf, forever.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image: postgres:16-alpine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runc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What a cluster is made of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2259635"/>
            <a:ext cx="10911840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CONTROL PLANE  —  the brain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API server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front door</a:t>
            </a:r>
          </a:p>
        </p:txBody>
      </p:sp>
      <p:sp>
        <p:nvSpPr>
          <p:cNvPr id="9" name="Box 9"/>
          <p:cNvSpPr/>
          <p:nvPr/>
        </p:nvSpPr>
        <p:spPr>
          <a:xfrm>
            <a:off x="3449878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scheduler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placement</a:t>
            </a:r>
          </a:p>
        </p:txBody>
      </p:sp>
      <p:sp>
        <p:nvSpPr>
          <p:cNvPr id="10" name="Box 10"/>
          <p:cNvSpPr/>
          <p:nvPr/>
        </p:nvSpPr>
        <p:spPr>
          <a:xfrm>
            <a:off x="6259676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controllers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the loops</a:t>
            </a:r>
          </a:p>
        </p:txBody>
      </p:sp>
      <p:sp>
        <p:nvSpPr>
          <p:cNvPr id="11" name="Box 11"/>
          <p:cNvSpPr/>
          <p:nvPr/>
        </p:nvSpPr>
        <p:spPr>
          <a:xfrm>
            <a:off x="9069474" y="3247390"/>
            <a:ext cx="2482443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etcd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the memory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1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3" name="Box 13"/>
          <p:cNvSpPr/>
          <p:nvPr/>
        </p:nvSpPr>
        <p:spPr>
          <a:xfrm>
            <a:off x="4386478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2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4" name="Box 14"/>
          <p:cNvSpPr/>
          <p:nvPr/>
        </p:nvSpPr>
        <p:spPr>
          <a:xfrm>
            <a:off x="8132876" y="4235145"/>
            <a:ext cx="3419043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NODE 3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2250F"/>
                </a:solidFill>
                <a:latin typeface="Arial"/>
                <a:cs typeface="Arial"/>
              </a:rPr>
              <a:t>kubelet · kube-proxy · pods</a:t>
            </a:r>
          </a:p>
        </p:txBody>
      </p:sp>
      <p:sp>
        <p:nvSpPr>
          <p:cNvPr id="15" name="Conn 15"/>
          <p:cNvSpPr/>
          <p:nvPr/>
        </p:nvSpPr>
        <p:spPr>
          <a:xfrm>
            <a:off x="6096000" y="2922575"/>
            <a:ext cx="0" cy="150977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1881301" y="3073552"/>
            <a:ext cx="8429394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1881301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4691099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Conn 19"/>
          <p:cNvSpPr/>
          <p:nvPr/>
        </p:nvSpPr>
        <p:spPr>
          <a:xfrm>
            <a:off x="7500897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10310695" y="3073552"/>
            <a:ext cx="0" cy="15097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Conn 21"/>
          <p:cNvSpPr/>
          <p:nvPr/>
        </p:nvSpPr>
        <p:spPr>
          <a:xfrm>
            <a:off x="1881301" y="3910330"/>
            <a:ext cx="4683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4691099" y="3910330"/>
            <a:ext cx="14049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7500897" y="3910330"/>
            <a:ext cx="2341500" cy="301955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Bar 2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node is just a machine that has agreed to run pods. `kubectl` talks only to the API server; the scheduler picks nodes; `kubelet` starts the containers; etcd remembers everything.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compose down -v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Everything is an object, and they all look the same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04013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Namespace = a folder · Pod = the smallest running unit · Deployment = keeps N pods alive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Service = a stable name in front of pods · ConfigMap and Secret = config · PVC = disk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StatefulSet (databases) · DaemonSet (one per node) · Job and CronJob (batch work)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232029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apiVersion: apps/v1      # which API group and version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Deployment         # WHAT TYPE of object this 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metadata: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name: api              # its name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namespace: nsu-demo    # which folder it lives in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spec:                    # WHAT YOU WANT   &lt;- you write this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replicas: 3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status:                  # WHAT IS TRUE    &lt;- Kubernetes writes this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readyReplicas: 3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spec is your wish, status is reality, and a controller's whole job is dragging status towards spec.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bridge network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Why you never write a Pod by hand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Create a bare pod, delete it, and it is simply gone. Nothing brings it back.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15011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Deployment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83422" y="215011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"3 copies, and update them safely" — the only part you write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301879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ReplicaSet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3422" y="301879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"there must be exactly 3 pods with this label"</a:t>
            </a:r>
          </a:p>
        </p:txBody>
      </p:sp>
      <p:sp>
        <p:nvSpPr>
          <p:cNvPr id="12" name="Box 12"/>
          <p:cNvSpPr/>
          <p:nvPr/>
        </p:nvSpPr>
        <p:spPr>
          <a:xfrm>
            <a:off x="640080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3" name="Box 13"/>
          <p:cNvSpPr/>
          <p:nvPr/>
        </p:nvSpPr>
        <p:spPr>
          <a:xfrm>
            <a:off x="3412414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4" name="Box 14"/>
          <p:cNvSpPr/>
          <p:nvPr/>
        </p:nvSpPr>
        <p:spPr>
          <a:xfrm>
            <a:off x="6184748" y="388747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3422" y="388747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one or more containers sharing an IP and storage</a:t>
            </a:r>
          </a:p>
        </p:txBody>
      </p:sp>
      <p:sp>
        <p:nvSpPr>
          <p:cNvPr id="16" name="Box 16"/>
          <p:cNvSpPr/>
          <p:nvPr/>
        </p:nvSpPr>
        <p:spPr>
          <a:xfrm>
            <a:off x="640080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7" name="Box 17"/>
          <p:cNvSpPr/>
          <p:nvPr/>
        </p:nvSpPr>
        <p:spPr>
          <a:xfrm>
            <a:off x="3412414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8" name="Box 18"/>
          <p:cNvSpPr/>
          <p:nvPr/>
        </p:nvSpPr>
        <p:spPr>
          <a:xfrm>
            <a:off x="6184748" y="4756150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Container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83422" y="475615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your image, running</a:t>
            </a:r>
          </a:p>
        </p:txBody>
      </p:sp>
      <p:sp>
        <p:nvSpPr>
          <p:cNvPr id="20" name="Conn 20"/>
          <p:cNvSpPr/>
          <p:nvPr/>
        </p:nvSpPr>
        <p:spPr>
          <a:xfrm>
            <a:off x="4677461" y="281305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271399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creates and manages</a:t>
            </a:r>
          </a:p>
        </p:txBody>
      </p:sp>
      <p:sp>
        <p:nvSpPr>
          <p:cNvPr id="22" name="Conn 22"/>
          <p:cNvSpPr/>
          <p:nvPr/>
        </p:nvSpPr>
        <p:spPr>
          <a:xfrm>
            <a:off x="4677461" y="3681730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1905126" y="3773170"/>
            <a:ext cx="5544668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4" name="Conn 24"/>
          <p:cNvSpPr/>
          <p:nvPr/>
        </p:nvSpPr>
        <p:spPr>
          <a:xfrm>
            <a:off x="1905126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5" name="Conn 25"/>
          <p:cNvSpPr/>
          <p:nvPr/>
        </p:nvSpPr>
        <p:spPr>
          <a:xfrm>
            <a:off x="4677460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6" name="Conn 26"/>
          <p:cNvSpPr/>
          <p:nvPr/>
        </p:nvSpPr>
        <p:spPr>
          <a:xfrm>
            <a:off x="7449794" y="3773170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640080" y="3582670"/>
            <a:ext cx="8074762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creates and manages</a:t>
            </a:r>
          </a:p>
        </p:txBody>
      </p:sp>
      <p:sp>
        <p:nvSpPr>
          <p:cNvPr id="28" name="Conn 28"/>
          <p:cNvSpPr/>
          <p:nvPr/>
        </p:nvSpPr>
        <p:spPr>
          <a:xfrm>
            <a:off x="1905126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9" name="Conn 29"/>
          <p:cNvSpPr/>
          <p:nvPr/>
        </p:nvSpPr>
        <p:spPr>
          <a:xfrm>
            <a:off x="4677460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0" name="Conn 30"/>
          <p:cNvSpPr/>
          <p:nvPr/>
        </p:nvSpPr>
        <p:spPr>
          <a:xfrm>
            <a:off x="7449794" y="455041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1" name="Bar 3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Pods are mortal: deleted, rescheduled, and the replacement gets a new IP. You write the Deployment; everything below it is created and repaired for you.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containerd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Labels — how everything is wired together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Nothing is connected by name or IP. Everything is connected by label.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Deployment stamps every pod it creates: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template: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metadata: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  labels: { app: api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ReplicaSet counts pods matching: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selector: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matchLabels: { app: api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Service sends traffic to pods matching: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selector: { app: api }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label is a key=value sticker; a selector is a query over stickers.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OCI image spec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Service — why pod IPs are useless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Pods are replaced constantly, and every replacement has a different IP.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498294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everything else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connects to the name "api"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Service  "api"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F6F3E7"/>
                </a:solidFill>
                <a:latin typeface="Arial"/>
                <a:cs typeface="Arial"/>
              </a:rPr>
              <a:t>one name · one stable IP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never changes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10.1.3.7</a:t>
            </a:r>
          </a:p>
        </p:txBody>
      </p:sp>
      <p:sp>
        <p:nvSpPr>
          <p:cNvPr id="12" name="Box 12"/>
          <p:cNvSpPr/>
          <p:nvPr/>
        </p:nvSpPr>
        <p:spPr>
          <a:xfrm>
            <a:off x="3412414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10.1.6.4  (was 10.1.5.2)</a:t>
            </a:r>
          </a:p>
        </p:txBody>
      </p:sp>
      <p:sp>
        <p:nvSpPr>
          <p:cNvPr id="13" name="Box 13"/>
          <p:cNvSpPr/>
          <p:nvPr/>
        </p:nvSpPr>
        <p:spPr>
          <a:xfrm>
            <a:off x="6184748" y="4407966"/>
            <a:ext cx="2530092" cy="640080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  <a:p>
            <a:pPr algn="ctr" marL="0" indent="0">
              <a:lnSpc>
                <a:spcPct val="95000"/>
              </a:lnSpc>
              <a:buNone/>
            </a:pPr>
            <a:r>
              <a:rPr lang="en-US" sz="900" b="0" i="1" dirty="0">
                <a:solidFill>
                  <a:srgbClr val="1D3A1C"/>
                </a:solidFill>
                <a:latin typeface="Arial"/>
                <a:cs typeface="Arial"/>
              </a:rPr>
              <a:t>10.1.2.8  (was 10.1.4.9)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3422" y="4407966"/>
            <a:ext cx="2768498" cy="64008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950" b="0" i="1" dirty="0">
                <a:solidFill>
                  <a:srgbClr val="5C6B52"/>
                </a:solidFill>
                <a:latin typeface="Arial"/>
                <a:cs typeface="Arial"/>
              </a:rPr>
              <a:t>replaced constantly, new IP every time</a:t>
            </a:r>
          </a:p>
        </p:txBody>
      </p:sp>
      <p:sp>
        <p:nvSpPr>
          <p:cNvPr id="15" name="Conn 15"/>
          <p:cNvSpPr/>
          <p:nvPr/>
        </p:nvSpPr>
        <p:spPr>
          <a:xfrm>
            <a:off x="4677461" y="3161234"/>
            <a:ext cx="0" cy="269036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Conn 16"/>
          <p:cNvSpPr/>
          <p:nvPr/>
        </p:nvSpPr>
        <p:spPr>
          <a:xfrm>
            <a:off x="4677461" y="4116070"/>
            <a:ext cx="0" cy="134518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7" name="Conn 17"/>
          <p:cNvSpPr/>
          <p:nvPr/>
        </p:nvSpPr>
        <p:spPr>
          <a:xfrm>
            <a:off x="1905126" y="4250588"/>
            <a:ext cx="5544668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18" name="Conn 18"/>
          <p:cNvSpPr/>
          <p:nvPr/>
        </p:nvSpPr>
        <p:spPr>
          <a:xfrm>
            <a:off x="1905126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9" name="Conn 19"/>
          <p:cNvSpPr/>
          <p:nvPr/>
        </p:nvSpPr>
        <p:spPr>
          <a:xfrm>
            <a:off x="4677460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Conn 20"/>
          <p:cNvSpPr/>
          <p:nvPr/>
        </p:nvSpPr>
        <p:spPr>
          <a:xfrm>
            <a:off x="7449794" y="4250588"/>
            <a:ext cx="0" cy="134518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1" name="Bar 2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ClusterIP (internal only, the default) · NodePort (a fixed port on every node, fine for demos) · LoadBalancer (asks the cloud for a real one). Inside the cluster it is simply the hostname `api`.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overlayfs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ConfigMap and Secret — config outside the image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The same image must run in dev, staging and production. Only the values change.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ConfigMap          # boring config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data: { DB_HOST: postgres, DB_NAME: nsu_demo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---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kind: Secret             # config that would get you fired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stringData: { DB_PASSWORD: nsu_password }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$ kubectl get secret db-secret -o jsonpath='{.data.DB_PASSWORD}' | base64 -d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nsu_password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A Secret is base64-encoded, NOT encrypted. The real protections are RBAC and encryption-at-rest in etcd. The genuine win here is separation: the credential is not baked into the image.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apply -f k8s/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docker push ghcr.io/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:latest is a lie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“It’s a Secret, so it’s encrypted”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base64 is not encryption. base64 is a hat.
A very small hat, on a very recognisable password.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sha256:9f2b...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Probes — how the cluster knows your app is healthy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"The process is running" and "the app works" are not the same statement.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70294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readinessProbe: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httpGet: { path: /healthz, port: 3000 }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periodSeconds: 5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0080" y="2394585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1964131"/>
                <a:gridCol w="3491788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Probe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If it fails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liveness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Are you alive?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Restart the container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readiness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Ready for traffic?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Remove from the Service — do not restart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startup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Finished booting?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Hold the other probes off a while longer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Readiness is what makes zero-downtime deployment possible: a new pod receives traffic only once it says it is ready.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kind: Deployment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three tricks that justify all of this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1097280"/>
        </p:xfrm>
        <a:graphic>
          <a:graphicData uri="http://schemas.openxmlformats.org/drawingml/2006/table">
            <a:tbl>
              <a:tblPr firstRow="1"/>
              <a:tblGrid>
                <a:gridCol w="1636776"/>
                <a:gridCol w="2946196"/>
                <a:gridCol w="6328867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Trick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you do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What Kubernetes does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Scale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Courier New"/>
                          <a:cs typeface="Courier New"/>
                        </a:rPr>
                        <a:t>kubectl scale --replicas=5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The ReplicaSet sees 3 of 5 and creates 2. The Service picks them up automatically — you configured no load balancer.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Self-heal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Nothing. Something breaks.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 crashes → restarted. Pod deleted → recreated. Node dies → rescheduled elsewhere.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Rolling update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Change the image or an env var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New pod up → passes readiness → THEN an old one goes. `maxUnavailable: 0` means no downtime.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Regret it? `kubectl rollout undo`. Each change created a new ReplicaSet and kept the old ones at zero — so rolling back is just scaling one of them back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apiVersion: apps/v1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metadata.labels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2000" b="0" i="0" dirty="0">
                <a:solidFill>
                  <a:srgbClr val="F6F3E7"/>
                </a:solidFill>
              </a:rPr>
              <a:t>♻️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2600" b="1" i="0" dirty="0">
                <a:solidFill>
                  <a:srgbClr val="F6F3E7"/>
                </a:solidFill>
                <a:latin typeface="Arial"/>
                <a:cs typeface="Arial"/>
              </a:rPr>
              <a:t>You deleted the pod. The pod came back.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2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You deleted it again. It came back again.
You are not in charge here. The Deployment is in charge here.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selector: app=api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When NOT to use Kubernetes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The most useful slide in this deck, and the one most sessions leave out.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600200"/>
            <a:ext cx="8620353" cy="164211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student project or a portfolio site — a single container is plenty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One small app with modest traffic — a VM plus Docker Compose is fine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Nobody on the team who can debug it at 3 a.m.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You want a database — use managed Postgres unless you have a real reason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cluster you did not need still needs upgrading, securing and paying for</a:t>
            </a:r>
          </a:p>
        </p:txBody>
      </p:sp>
      <p:sp>
        <p:nvSpPr>
          <p:cNvPr id="10" name="Bar 1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Kubernetes solves problems of scale. Adopt it when you have those problems, not because it appears on job descriptions.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reconcile loop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replicas: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desired state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svc.cluster.local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kubelet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Part 4 — Seeing it work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Five checkpoints · run them with me, or later from the repo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spec vs status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ClusterIP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ConfigMap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1 — run it with no Docker at all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en-US" sz="1500" b="1" i="0" dirty="0">
                <a:solidFill>
                  <a:srgbClr val="3E6B33"/>
                </a:solidFill>
                <a:latin typeface="Arial"/>
                <a:cs typeface="Arial"/>
              </a:rPr>
              <a:t>A guestbook: Express + Postgres, ~120 lines. Every page prints who served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checkpoints/01-plain-node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node --version               # must be 18 or newer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npm install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apt-get install -y postgresql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-u postgres psql -c "CREATE USER nsu WITH PASSWORD 'nsu_password';"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sudo -u postgres psql -c "CREATE DATABASE nsu_demo OWNER nsu;"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export DB_HOST=localhost DB_USER=nsu DB_PASSWORD=nsu_password DB_NAME=nsu_demo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npm start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Count the ways this fails: wrong Node, failed install, no Postgres, wrong password, port in use, wrong OS. Eight failure modes, for 120 lines of code.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describe pod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2 — build an image, run a container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checkpoints/02-docker-single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build -t nsu-guestbook:v1 .     # build twice: the second is instant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run --rm -p 8080:3000 nsu-guestbook:v1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[db] not ready: connect ECONNREFUSED 127.0.0.1:5432    &lt;- expected!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exec -it gb sh                  # look around inside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cat /etc/os-release                  # Alpine... on your Ubuntu laptop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  whoami                               # node, not root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It fails on purpose. `localhost` inside the container IS the container — the networking slide, made real.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get pods -w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3 — two containers, one command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cd checkpoints/03-compose-db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up --build      # -&gt; http://localhost:8080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the volume lesson -- do this live: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down            # containers destroyed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up -d           # brand new containers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  refresh: your guestbook entries are STILL THERE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compose down -v         # -v also deletes the volume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  refresh: now they are gone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The app finally works, on any machine, with one command. And the data outlives the container that wrote it.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ReplicaSet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etcd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Secret (base64!)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4 — the same image on a cluster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 create cluster --config kind-config.yaml   # Kubernetes IN Docker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get nodes                              # 1 control-plane, 2 workers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docker ps                                      # the nodes ARE containers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kind load docker-image nsu-guestbook:v1 --name nsu   # its own image store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apply -f k8s/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get all -n nsu-demo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Identical image. Namespace, Deployment, Service — the objects from Part 3, now real. Skip the `kind load` line and you get ImagePullBackOff, which is worth demoing on purpose.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kubectl logs -f deploy/api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ImagePullBackOff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Checkpoint 5 — scale, heal, ship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1. SCALE -- then refresh the browser and watch "Served by" change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scale deploy/api --replicas=5 -n nsu-demo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2. SELF-HEAL -- kill them all; replacements appear in seconds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delete pods -n nsu-demo -l app=api</a:t>
            </a:r>
          </a:p>
          <a:p>
            <a:pPr algn="l" marL="0" indent="0">
              <a:lnSpc>
                <a:spcPct val="100000"/>
              </a:lnSpc>
              <a:buNone/>
            </a:pP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# 3. ROLLING UPDATE -- refresh throughout; it never errors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set env deploy/api APP_VERSION=v2 -n nsu-demo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en-US" sz="1050" b="0" i="0" dirty="0">
                <a:solidFill>
                  <a:srgbClr val="1D3A1C"/>
                </a:solidFill>
                <a:latin typeface="Courier New"/>
                <a:cs typeface="Courier New"/>
              </a:rPr>
              <a:t>kubectl rollout undo deploy/api -n nsu-demo</a:t>
            </a:r>
          </a:p>
        </p:txBody>
      </p:sp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Three commands. Everything Part 3 promised, visible in ninety seconds. Keep localhost:8080 on the projector throughout.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NodePort 30080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readinessProbe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DaemonSet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The entire session on one slide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ox 7"/>
          <p:cNvSpPr/>
          <p:nvPr/>
        </p:nvSpPr>
        <p:spPr>
          <a:xfrm>
            <a:off x="640080" y="1188721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your code + its environment</a:t>
            </a:r>
          </a:p>
        </p:txBody>
      </p:sp>
      <p:sp>
        <p:nvSpPr>
          <p:cNvPr id="8" name="Box 8"/>
          <p:cNvSpPr/>
          <p:nvPr/>
        </p:nvSpPr>
        <p:spPr>
          <a:xfrm>
            <a:off x="640080" y="2019724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IMAGE</a:t>
            </a:r>
          </a:p>
        </p:txBody>
      </p:sp>
      <p:sp>
        <p:nvSpPr>
          <p:cNvPr id="9" name="Box 9"/>
          <p:cNvSpPr/>
          <p:nvPr/>
        </p:nvSpPr>
        <p:spPr>
          <a:xfrm>
            <a:off x="640080" y="2850727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EFEBDC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REGISTRY</a:t>
            </a:r>
          </a:p>
        </p:txBody>
      </p:sp>
      <p:sp>
        <p:nvSpPr>
          <p:cNvPr id="10" name="Box 10"/>
          <p:cNvSpPr/>
          <p:nvPr/>
        </p:nvSpPr>
        <p:spPr>
          <a:xfrm>
            <a:off x="640080" y="3681730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7F9169"/>
          </a:solidFill>
          <a:ln w="12700">
            <a:solidFill>
              <a:srgbClr val="7F9169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2250F"/>
                </a:solidFill>
                <a:latin typeface="Arial"/>
                <a:cs typeface="Arial"/>
              </a:rPr>
              <a:t>Deployment  →  ReplicaSet</a:t>
            </a:r>
          </a:p>
        </p:txBody>
      </p:sp>
      <p:sp>
        <p:nvSpPr>
          <p:cNvPr id="11" name="Box 11"/>
          <p:cNvSpPr/>
          <p:nvPr/>
        </p:nvSpPr>
        <p:spPr>
          <a:xfrm>
            <a:off x="640080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2" name="Box 12"/>
          <p:cNvSpPr/>
          <p:nvPr/>
        </p:nvSpPr>
        <p:spPr>
          <a:xfrm>
            <a:off x="4386478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3" name="Box 13"/>
          <p:cNvSpPr/>
          <p:nvPr/>
        </p:nvSpPr>
        <p:spPr>
          <a:xfrm>
            <a:off x="8132876" y="4512733"/>
            <a:ext cx="3419043" cy="6024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BAA8B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1D3A1C"/>
                </a:solidFill>
                <a:latin typeface="Arial"/>
                <a:cs typeface="Arial"/>
              </a:rPr>
              <a:t>Pod</a:t>
            </a:r>
          </a:p>
        </p:txBody>
      </p:sp>
      <p:sp>
        <p:nvSpPr>
          <p:cNvPr id="14" name="Box 14"/>
          <p:cNvSpPr/>
          <p:nvPr/>
        </p:nvSpPr>
        <p:spPr>
          <a:xfrm>
            <a:off x="640080" y="5343736"/>
            <a:ext cx="10911840" cy="602403"/>
          </a:xfrm>
          <a:prstGeom prst="roundRect">
            <a:avLst>
              <a:gd name="adj" fmla="val 12000"/>
            </a:avLst>
          </a:prstGeom>
          <a:solidFill>
            <a:srgbClr val="1D3A1C"/>
          </a:solidFill>
          <a:ln w="12700">
            <a:solidFill>
              <a:srgbClr val="1D3A1C"/>
            </a:solidFill>
          </a:ln>
        </p:spPr>
        <p:txBody>
          <a:bodyPr lIns="45720" rIns="45720" tIns="27432" bIns="27432" anchor="ctr">
            <a:noAutofit/>
          </a:bodyPr>
          <a:lstStyle/>
          <a:p>
            <a:pPr algn="ctr" marL="0" indent="0">
              <a:lnSpc>
                <a:spcPct val="95000"/>
              </a:lnSpc>
              <a:buNone/>
            </a:pPr>
            <a:r>
              <a:rPr lang="en-US" sz="1150" b="1" i="0" dirty="0">
                <a:solidFill>
                  <a:srgbClr val="F6F3E7"/>
                </a:solidFill>
                <a:latin typeface="Arial"/>
                <a:cs typeface="Arial"/>
              </a:rPr>
              <a:t>Service "api"  →  users</a:t>
            </a:r>
          </a:p>
        </p:txBody>
      </p:sp>
      <p:sp>
        <p:nvSpPr>
          <p:cNvPr id="15" name="Conn 15"/>
          <p:cNvSpPr/>
          <p:nvPr/>
        </p:nvSpPr>
        <p:spPr>
          <a:xfrm>
            <a:off x="6096000" y="1813984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40080" y="1714924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Dockerfile</a:t>
            </a:r>
          </a:p>
        </p:txBody>
      </p:sp>
      <p:sp>
        <p:nvSpPr>
          <p:cNvPr id="17" name="Conn 17"/>
          <p:cNvSpPr/>
          <p:nvPr/>
        </p:nvSpPr>
        <p:spPr>
          <a:xfrm>
            <a:off x="6096000" y="2644987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640080" y="2545927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push / pull</a:t>
            </a:r>
          </a:p>
        </p:txBody>
      </p:sp>
      <p:sp>
        <p:nvSpPr>
          <p:cNvPr id="19" name="Conn 19"/>
          <p:cNvSpPr/>
          <p:nvPr/>
        </p:nvSpPr>
        <p:spPr>
          <a:xfrm>
            <a:off x="6096000" y="3475990"/>
            <a:ext cx="0" cy="18288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40080" y="3376930"/>
            <a:ext cx="1091184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0" i="1" dirty="0">
                <a:solidFill>
                  <a:srgbClr val="5C6B52"/>
                </a:solidFill>
                <a:latin typeface="Arial"/>
                <a:cs typeface="Arial"/>
              </a:rPr>
              <a:t>"3 healthy copies"</a:t>
            </a:r>
          </a:p>
        </p:txBody>
      </p:sp>
      <p:sp>
        <p:nvSpPr>
          <p:cNvPr id="21" name="Conn 21"/>
          <p:cNvSpPr/>
          <p:nvPr/>
        </p:nvSpPr>
        <p:spPr>
          <a:xfrm>
            <a:off x="6096000" y="4306993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2" name="Conn 22"/>
          <p:cNvSpPr/>
          <p:nvPr/>
        </p:nvSpPr>
        <p:spPr>
          <a:xfrm>
            <a:off x="2349601" y="4398433"/>
            <a:ext cx="7492796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3" name="Conn 23"/>
          <p:cNvSpPr/>
          <p:nvPr/>
        </p:nvSpPr>
        <p:spPr>
          <a:xfrm>
            <a:off x="2349601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4" name="Conn 24"/>
          <p:cNvSpPr/>
          <p:nvPr/>
        </p:nvSpPr>
        <p:spPr>
          <a:xfrm>
            <a:off x="6095999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5" name="Conn 25"/>
          <p:cNvSpPr/>
          <p:nvPr/>
        </p:nvSpPr>
        <p:spPr>
          <a:xfrm>
            <a:off x="9842397" y="4398433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26" name="Conn 26"/>
          <p:cNvSpPr/>
          <p:nvPr/>
        </p:nvSpPr>
        <p:spPr>
          <a:xfrm>
            <a:off x="2349601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7" name="Conn 27"/>
          <p:cNvSpPr/>
          <p:nvPr/>
        </p:nvSpPr>
        <p:spPr>
          <a:xfrm>
            <a:off x="6095999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8" name="Conn 28"/>
          <p:cNvSpPr/>
          <p:nvPr/>
        </p:nvSpPr>
        <p:spPr>
          <a:xfrm>
            <a:off x="9842397" y="5137996"/>
            <a:ext cx="0" cy="9144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29" name="Conn 29"/>
          <p:cNvSpPr/>
          <p:nvPr/>
        </p:nvSpPr>
        <p:spPr>
          <a:xfrm>
            <a:off x="2349601" y="5229436"/>
            <a:ext cx="7492796" cy="0"/>
          </a:xfrm>
          <a:prstGeom prst="line">
            <a:avLst/>
          </a:prstGeom>
          <a:ln w="19050">
            <a:solidFill>
              <a:srgbClr val="7F9169"/>
            </a:solidFill>
          </a:ln>
        </p:spPr>
        <p:txBody>
          <a:bodyPr/>
          <a:lstStyle/>
          <a:p/>
        </p:txBody>
      </p:sp>
      <p:sp>
        <p:nvSpPr>
          <p:cNvPr id="30" name="Conn 30"/>
          <p:cNvSpPr/>
          <p:nvPr/>
        </p:nvSpPr>
        <p:spPr>
          <a:xfrm>
            <a:off x="6096000" y="5229436"/>
            <a:ext cx="0" cy="91440"/>
          </a:xfrm>
          <a:prstGeom prst="line">
            <a:avLst/>
          </a:prstGeom>
          <a:ln w="19050">
            <a:solidFill>
              <a:srgbClr val="7F9169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1" name="Bar 3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One image. Many identical pods. One stable name. A controller that never stops checking.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StatefulSet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Compose and Kubernetes are the same ideas, renamed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40080" y="1188720"/>
          <a:ext cx="10911840" cy="2468880"/>
        </p:xfrm>
        <a:graphic>
          <a:graphicData uri="http://schemas.openxmlformats.org/drawingml/2006/table">
            <a:tbl>
              <a:tblPr firstRow="1"/>
              <a:tblGrid>
                <a:gridCol w="5455920"/>
                <a:gridCol w="5455920"/>
              </a:tblGrid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Docker Compose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6F3E7"/>
                          </a:solidFill>
                          <a:latin typeface="Arial"/>
                          <a:cs typeface="Arial"/>
                        </a:rPr>
                        <a:t>Kubernetes</a:t>
                      </a:r>
                    </a:p>
                  </a:txBody>
                  <a:tcPr>
                    <a:solidFill>
                      <a:srgbClr val="1D3A1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Deployment + Service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docker compose up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kubectl apply -f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container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Pod (which contains containers)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 name as hostname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Service name as hostname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named volume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PersistentVolumeClaim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environment: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ConfigMap and Secret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healthcheck: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liveness and readiness probes</a:t>
                      </a:r>
                    </a:p>
                  </a:txBody>
                  <a:tcPr>
                    <a:solidFill>
                      <a:srgbClr val="FCFAF2"/>
                    </a:solidFill>
                  </a:tcPr>
                </a:tc>
              </a:tr>
              <a:tr h="274320"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(not available)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  <a:tc>
                  <a:txBody>
                    <a:bodyPr lIns="82296" rIns="82296" tIns="41148" bIns="41148" anchor="ctr"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1D3A1C"/>
                          </a:solidFill>
                          <a:latin typeface="Arial"/>
                          <a:cs typeface="Arial"/>
                        </a:rPr>
                        <a:t>replicas, self-healing, rolling updates, scheduling</a:t>
                      </a:r>
                    </a:p>
                  </a:txBody>
                  <a:tcPr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  <p:sp>
        <p:nvSpPr>
          <p:cNvPr id="8" name="Bar 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You already understood most of Kubernetes by the end of Part 2. It just used different words.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kube-proxy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E6E2D2"/>
                </a:solidFill>
                <a:latin typeface="Courier New"/>
                <a:cs typeface="Courier New"/>
              </a:rPr>
              <a:t>cpu: 50m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2200" b="1" i="0" dirty="0">
                <a:solidFill>
                  <a:srgbClr val="1D3A1C"/>
                </a:solidFill>
                <a:latin typeface="Arial"/>
                <a:cs typeface="Arial"/>
              </a:rPr>
              <a:t>If you remember only five things</a:t>
            </a:r>
          </a:p>
        </p:txBody>
      </p:sp>
      <p:sp>
        <p:nvSpPr>
          <p:cNvPr id="6" name="Bar 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5400" b="0" i="0" dirty="0">
                <a:solidFill>
                  <a:srgbClr val="1D3A1C"/>
                </a:solidFill>
              </a:rPr>
              <a:t>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1188720"/>
            <a:ext cx="8620353" cy="164211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 app is code PLUS its environment — that is why shipping code alone fails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 container is a normal process the kernel has isolated. Not a small VM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 image is the frozen recipe; a container is a running instance of it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Kubernetes compares desired state with actual state, forever</a:t>
            </a:r>
          </a:p>
          <a:p>
            <a:pPr algn="l" marL="228600" indent="-228600">
              <a:lnSpc>
                <a:spcPct val="105000"/>
              </a:lnSpc>
              <a:spcBef>
                <a:spcPts val="500"/>
              </a:spcBef>
              <a:buClr>
                <a:srgbClr val="7F9169"/>
              </a:buClr>
              <a:buSzPct val="95000"/>
              <a:buFont typeface="Arial"/>
              <a:buChar char="▪"/>
            </a:pPr>
            <a:r>
              <a:rPr lang="en-US" sz="1500" b="0" i="0" dirty="0">
                <a:solidFill>
                  <a:srgbClr val="1D3A1C"/>
                </a:solidFill>
                <a:latin typeface="Arial"/>
                <a:cs typeface="Arial"/>
              </a:rPr>
              <a:t>Anything you care about keeping must live OUTSIDE the container</a:t>
            </a:r>
          </a:p>
        </p:txBody>
      </p:sp>
      <p:sp>
        <p:nvSpPr>
          <p:cNvPr id="9" name="Bar 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150" b="0" i="1" dirty="0">
                <a:solidFill>
                  <a:srgbClr val="5C6B52"/>
                </a:solidFill>
                <a:latin typeface="Arial"/>
                <a:cs typeface="Arial"/>
              </a:rPr>
              <a:t>Next: containerise one project of your own this week — that is the whole homework. Then kubernetes.io/docs/tutorials/kubernetes-basics, then Ingress, then Helm. Learn `kubectl describe` before anything else.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kube-scheduler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controller-manager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rollout undo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livenessProbe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maxUnavailable: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Secret (base64!)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CrashLoopBackOff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PersistentVolumeClaim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ImagePullBackOff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StorageClass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StatefulSet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0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cpu: 50m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StatefulSet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kubectl scale --replicas=5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1100" b="0" i="0" spc="120" dirty="0">
                <a:solidFill>
                  <a:srgbClr val="2A4D28"/>
                </a:solidFill>
                <a:latin typeface="Courier New"/>
                <a:cs typeface="Courier New"/>
              </a:rPr>
              <a:t>memory: 256Mi</a:t>
            </a:r>
          </a:p>
        </p:txBody>
      </p:sp>
      <p:sp>
        <p:nvSpPr>
          <p:cNvPr id="18" name="Pill 1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F9169"/>
          </a:solidFill>
          <a:ln>
            <a:noFill/>
          </a:ln>
        </p:spPr>
        <p:txBody>
          <a:bodyPr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900" b="1" i="0" spc="180" dirty="0">
                <a:solidFill>
                  <a:srgbClr val="12250F"/>
                </a:solidFill>
                <a:latin typeface="Courier New"/>
                <a:cs typeface="Courier New"/>
              </a:rPr>
              <a:t>CHAPTER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3200" b="1" i="0" dirty="0">
                <a:solidFill>
                  <a:srgbClr val="F6F3E7"/>
                </a:solidFill>
                <a:latin typeface="Arial"/>
                <a:cs typeface="Arial"/>
              </a:rPr>
              <a:t>Questions?</a:t>
            </a:r>
          </a:p>
        </p:txBody>
      </p:sp>
      <p:sp>
        <p:nvSpPr>
          <p:cNvPr id="20" name="Bar 20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Autofit/>
          </a:bodyPr>
          <a:lstStyle/>
          <a:p>
            <a:pPr algn="ctr" marL="0" indent="0">
              <a:lnSpc>
                <a:spcPct val="130000"/>
              </a:lnSpc>
              <a:buNone/>
            </a:pPr>
            <a:r>
              <a:rPr lang="en-US" sz="1500" b="0" i="0" dirty="0">
                <a:solidFill>
                  <a:srgbClr val="AFC0A0"/>
                </a:solidFill>
                <a:latin typeface="Arial"/>
                <a:cs typeface="Arial"/>
              </a:rPr>
              <a:t>Slides, checkpoints and a cheat sheet are all in the repo —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SU">
  <a:themeElements>
    <a:clrScheme name="NSU">
      <a:dk1>
        <a:sysClr val="windowText" lastClr="000000"/>
      </a:dk1>
      <a:lt1>
        <a:sysClr val="window" lastClr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NS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S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SU">
  <a:themeElements>
    <a:clrScheme name="NSU">
      <a:dk1>
        <a:sysClr val="windowText" lastClr="000000"/>
      </a:dk1>
      <a:lt1>
        <a:sysClr val="window" lastClr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NS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S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build_pptx.py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Docker &amp; Kubernetes — Intro Session</dc:title>
  <dc:creator>NSU Session</dc:creator>
  <cp:lastModifiedBy>NSU Session</cp:lastModifiedBy>
</cp:coreProperties>
</file>