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F3750A-E343-448E-A563-E3EC63897067}">
  <a:tblStyle styleId="{1EF3750A-E343-448E-A563-E3EC6389706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Assume zero background. Nobody here has deployed anything. Say that out loud so people relax: 'if you have never heard any of these words, you are exactly who this is for.'</a:t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Show of hands: who has heard of Docker, who has run it, who has touched Kubernetes. Calibrate from there.</a:t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Draw this on the board if you can. Everything hangs off it — a container is literally a way to ship the middle four layers together.</a:t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Ask who has lost an evening to a setup problem that was not their code. Almost every hand goes up. That is the hook.</a:t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Name all three attempts out loud: documentation (fails), VMs (works, far too heavy), containers. The insight: two Linux apps already share a kernel, so stop copying it.</a:t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single most valuable sentence of the session: 'a container is a process that has been lied to.' Say it twice.</a:t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Someone always asks 'is Docker dead?' — Kubernetes stopped using dockerd internally in 2022. You still build Docker images. The image format is a standard.</a:t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If they remember one table from the whole session, make it this one.</a:t>
            </a:r>
            <a:endParaRPr/>
          </a:p>
        </p:txBody>
      </p:sp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RUN happens once, at build time. CMD happens every time a container starts. That distinction trips up everyone.</a:t>
            </a:r>
            <a:endParaRPr/>
          </a:p>
        </p:txBody>
      </p:sp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Ask the room WHY before you explain. Somebody will get it, and that moment beats the slide.</a:t>
            </a:r>
            <a:endParaRPr/>
          </a:p>
        </p:txBody>
      </p:sp>
      <p:sp>
        <p:nvSpPr>
          <p:cNvPr id="347" name="Google Shape;347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This slide explains, in advance, why scaling the API to 5 replicas later is easy and why we never scale Postgres.</a:t>
            </a:r>
            <a:endParaRPr/>
          </a:p>
        </p:txBody>
      </p:sp>
      <p:sp>
        <p:nvSpPr>
          <p:cNvPr id="362" name="Google Shape;362;p1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This is the hinge of the session. Do not rush it — every Kubernetes feature answers one of these bullets.</a:t>
            </a:r>
            <a:endParaRPr/>
          </a:p>
        </p:txBody>
      </p:sp>
      <p:sp>
        <p:nvSpPr>
          <p:cNvPr id="389" name="Google Shape;389;p2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analogy that lands: a thermostat. You do not switch the heater on and off all night. You say 22 degrees, and it works out the rest.</a:t>
            </a:r>
            <a:endParaRPr/>
          </a:p>
        </p:txBody>
      </p:sp>
      <p:sp>
        <p:nvSpPr>
          <p:cNvPr id="440" name="Google Shape;440;p2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If etcd is lost, the cluster's memory is lost — which is why production clusters run three or five copies of it.</a:t>
            </a:r>
            <a:endParaRPr/>
          </a:p>
        </p:txBody>
      </p:sp>
      <p:sp>
        <p:nvSpPr>
          <p:cNvPr id="495" name="Google Shape;495;p2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#1 beginner bug in the entire ecosystem: labels and selector disagree, so the Service has zero endpoints and the page just hangs. Check it with `kubectl get endpoints`.</a:t>
            </a:r>
            <a:endParaRPr/>
          </a:p>
        </p:txBody>
      </p:sp>
      <p:sp>
        <p:nvSpPr>
          <p:cNvPr id="571" name="Google Shape;571;p2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Run the base64 -d command live. Five seconds, remembered for years. Plenty of professionals believe Secrets are encrypted.</a:t>
            </a:r>
            <a:endParaRPr/>
          </a:p>
        </p:txBody>
      </p:sp>
      <p:sp>
        <p:nvSpPr>
          <p:cNvPr id="609" name="Google Shape;609;p3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Tie scaling back to the stateless/stateful slide: this only works because the API is stateless. Try it on Postgres and you corrupt data.</a:t>
            </a:r>
            <a:endParaRPr/>
          </a:p>
        </p:txBody>
      </p:sp>
      <p:sp>
        <p:nvSpPr>
          <p:cNvPr id="659" name="Google Shape;659;p3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hostname line — os.hostname() — is the trick of the session. In Docker it prints a container ID; in Kubernetes, a pod name. If the Postgres install is slow, narrate it instead; the struggle IS the content.</a:t>
            </a:r>
            <a:endParaRPr/>
          </a:p>
        </p:txBody>
      </p:sp>
      <p:sp>
        <p:nvSpPr>
          <p:cNvPr id="732" name="Google Shape;732;p3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Ask the room WHY it failed before you explain it.</a:t>
            </a:r>
            <a:endParaRPr/>
          </a:p>
        </p:txBody>
      </p:sp>
      <p:sp>
        <p:nvSpPr>
          <p:cNvPr id="745" name="Google Shape;745;p3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4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CREATE THE CLUSTER BEFORE THE SESSION. It takes 1-3 minutes on good wifi and much longer on bad wifi.</a:t>
            </a:r>
            <a:endParaRPr/>
          </a:p>
        </p:txBody>
      </p:sp>
      <p:sp>
        <p:nvSpPr>
          <p:cNvPr id="769" name="Google Shape;769;p4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'Served by' hostname changing as you refresh is the single best demo in the session. Let it run.</a:t>
            </a:r>
            <a:endParaRPr/>
          </a:p>
        </p:txBody>
      </p:sp>
      <p:sp>
        <p:nvSpPr>
          <p:cNvPr id="781" name="Google Shape;781;p4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Events section at the bottom of `kubectl describe pod` answers nine out of ten 'why will it not start' questions. Say so explicitly.</a:t>
            </a:r>
            <a:endParaRPr/>
          </a:p>
        </p:txBody>
      </p:sp>
      <p:sp>
        <p:nvSpPr>
          <p:cNvPr id="840" name="Google Shape;840;p4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syscall</a:t>
            </a:r>
            <a:endParaRPr/>
          </a:p>
        </p:txBody>
      </p:sp>
      <p:sp>
        <p:nvSpPr>
          <p:cNvPr id="12" name="Google Shape;12;p3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shared kernel</a:t>
            </a:r>
            <a:endParaRPr/>
          </a:p>
        </p:txBody>
      </p:sp>
      <p:sp>
        <p:nvSpPr>
          <p:cNvPr id="13" name="Google Shape;13;p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cgroups</a:t>
            </a:r>
            <a:endParaRPr/>
          </a:p>
        </p:txBody>
      </p:sp>
      <p:sp>
        <p:nvSpPr>
          <p:cNvPr id="14" name="Google Shape;14;p3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chroot</a:t>
            </a:r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cgroups</a:t>
            </a:r>
            <a:endParaRPr/>
          </a:p>
        </p:txBody>
      </p:sp>
      <p:sp>
        <p:nvSpPr>
          <p:cNvPr id="16" name="Google Shape;16;p3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PID 1</a:t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/proc/self/ns</a:t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hypervisor</a:t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union filesystem</a:t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guest OS</a:t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copy-on-write</a:t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127.0.0.1:5432</a:t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ECONNREFUSED</a:t>
            </a:r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EDAC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EDACA"/>
                </a:solidFill>
                <a:latin typeface="Courier New"/>
                <a:ea typeface="Courier New"/>
                <a:cs typeface="Courier New"/>
                <a:sym typeface="Courier New"/>
              </a:rPr>
              <a:t>0X3F3F3F3F</a:t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Docker &amp; Kubernetes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" name="Google Shape;29;p3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500"/>
              <a:buFont typeface="Arial"/>
              <a:buNone/>
            </a:pPr>
            <a:r>
              <a:rPr b="0" i="0" lang="en-US" sz="240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North South University · Introductory Session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syscall</a:t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guest OS</a:t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SHA-256</a:t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4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What we are actually answering today</a:t>
            </a:r>
            <a:endParaRPr sz="2400"/>
          </a:p>
        </p:txBody>
      </p:sp>
      <p:sp>
        <p:nvSpPr>
          <p:cNvPr id="38" name="Google Shape;38;p4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" name="Google Shape;39;p4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8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A vocabulary and mental-model session, not a command tutorial.</a:t>
            </a:r>
            <a:endParaRPr sz="1800"/>
          </a:p>
        </p:txBody>
      </p:sp>
      <p:graphicFrame>
        <p:nvGraphicFramePr>
          <p:cNvPr id="40" name="Google Shape;40;p4"/>
          <p:cNvGraphicFramePr/>
          <p:nvPr/>
        </p:nvGraphicFramePr>
        <p:xfrm>
          <a:off x="6400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3600900"/>
                <a:gridCol w="7310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Question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answer we will build up to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 is shipping software hard?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 app is code PLUS a whole environment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is a container?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process the kernel isolates, so it carries its environment with it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is Docker?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tool that builds and runs containers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Why is one machine not enough?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fails, it fills up, and it cannot be updated without downtime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is Kubernetes?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system that keeps containers running correctly across many machines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41" name="Google Shape;41;p4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p4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No question is too basic — stop me the moment a word is unfamiliar. Everything is in the repo; you never need to copy from a slide.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shared kernel</a:t>
            </a:r>
            <a:endParaRPr/>
          </a:p>
        </p:txBody>
      </p:sp>
      <p:sp>
        <p:nvSpPr>
          <p:cNvPr id="48" name="Google Shape;48;p5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cgroups</a:t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chroot</a:t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union filesystem</a:t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hypervisor</a:t>
            </a:r>
            <a:endParaRPr/>
          </a:p>
        </p:txBody>
      </p:sp>
      <p:sp>
        <p:nvSpPr>
          <p:cNvPr id="52" name="Google Shape;52;p5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guest OS</a:t>
            </a: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copy-on-write</a:t>
            </a:r>
            <a:endParaRPr/>
          </a:p>
        </p:txBody>
      </p:sp>
      <p:sp>
        <p:nvSpPr>
          <p:cNvPr id="54" name="Google Shape;54;p5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glibc vs musl</a:t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hypervisor</a:t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127.0.0.1:5432</a:t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127.0.0.1:5432</a:t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0X3F3F3F3F</a:t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SHA-256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fmla="val 50000" name="adj"/>
            </a:avLst>
          </a:prstGeom>
          <a:solidFill>
            <a:srgbClr val="7F91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Courier New"/>
              <a:buNone/>
            </a:pPr>
            <a:r>
              <a:rPr b="1" i="0" lang="en-US" sz="900">
                <a:solidFill>
                  <a:srgbClr val="12250F"/>
                </a:solidFill>
                <a:latin typeface="Courier New"/>
                <a:ea typeface="Courier New"/>
                <a:cs typeface="Courier New"/>
                <a:sym typeface="Courier New"/>
              </a:rPr>
              <a:t>CHAPTER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Part 1 — Why containers exist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" name="Google Shape;66;p5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24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The problem, and the idea that solved it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/proc/self/ns</a:t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EXIT 0</a:t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4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First: what does “running an app” actually need?</a:t>
            </a:r>
            <a:endParaRPr sz="2400"/>
          </a:p>
        </p:txBody>
      </p:sp>
      <p:sp>
        <p:nvSpPr>
          <p:cNvPr id="75" name="Google Shape;75;p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" name="Google Shape;76;p6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8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Your code is the smallest part of what has to be correct.</a:t>
            </a:r>
            <a:endParaRPr sz="1800"/>
          </a:p>
        </p:txBody>
      </p:sp>
      <p:sp>
        <p:nvSpPr>
          <p:cNvPr id="77" name="Google Shape;77;p6"/>
          <p:cNvSpPr/>
          <p:nvPr/>
        </p:nvSpPr>
        <p:spPr>
          <a:xfrm>
            <a:off x="640080" y="1600201"/>
            <a:ext cx="8074762" cy="533823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YOUR CODE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server.js</a:t>
            </a:r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8783422" y="1600201"/>
            <a:ext cx="27684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the part you wrote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640080" y="2362624"/>
            <a:ext cx="8074762" cy="533823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LIBRARIES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express, pg</a:t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8783422" y="2362624"/>
            <a:ext cx="2768498" cy="533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code other people wrote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40080" y="3125047"/>
            <a:ext cx="8074762" cy="533823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Node 18</a:t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8783422" y="3125047"/>
            <a:ext cx="2768498" cy="533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the thing that executes it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40080" y="3887470"/>
            <a:ext cx="8074762" cy="533823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SYSTEM LIBRARIES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glibc, OpenSSL</a:t>
            </a:r>
            <a:endParaRPr/>
          </a:p>
        </p:txBody>
      </p:sp>
      <p:sp>
        <p:nvSpPr>
          <p:cNvPr id="84" name="Google Shape;84;p6"/>
          <p:cNvSpPr txBox="1"/>
          <p:nvPr/>
        </p:nvSpPr>
        <p:spPr>
          <a:xfrm>
            <a:off x="8783422" y="3887470"/>
            <a:ext cx="2768498" cy="533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the OS's shared plumbing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40080" y="4649893"/>
            <a:ext cx="8074762" cy="533823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OPERATING SYSTEM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8783422" y="4649893"/>
            <a:ext cx="2768498" cy="533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files, processes, network</a:t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40080" y="5412316"/>
            <a:ext cx="8074762" cy="533823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HARDWARE  /  VM</a:t>
            </a:r>
            <a:endParaRPr/>
          </a:p>
        </p:txBody>
      </p:sp>
      <p:cxnSp>
        <p:nvCxnSpPr>
          <p:cNvPr id="88" name="Google Shape;88;p6"/>
          <p:cNvCxnSpPr/>
          <p:nvPr/>
        </p:nvCxnSpPr>
        <p:spPr>
          <a:xfrm>
            <a:off x="4677461" y="2156884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6"/>
          <p:cNvCxnSpPr/>
          <p:nvPr/>
        </p:nvCxnSpPr>
        <p:spPr>
          <a:xfrm>
            <a:off x="4677461" y="2919307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" name="Google Shape;90;p6"/>
          <p:cNvCxnSpPr/>
          <p:nvPr/>
        </p:nvCxnSpPr>
        <p:spPr>
          <a:xfrm>
            <a:off x="4677461" y="368173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6"/>
          <p:cNvCxnSpPr/>
          <p:nvPr/>
        </p:nvCxnSpPr>
        <p:spPr>
          <a:xfrm>
            <a:off x="4677461" y="4444153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" name="Google Shape;92;p6"/>
          <p:cNvCxnSpPr/>
          <p:nvPr/>
        </p:nvCxnSpPr>
        <p:spPr>
          <a:xfrm>
            <a:off x="4677461" y="5206576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6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" name="Google Shape;94;p6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Change any one layer and the app can break. "It works" means all six happen to agree.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chroot</a:t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0X3F3F3F3F</a:t>
            </a:r>
            <a:endParaRPr/>
          </a:p>
        </p:txBody>
      </p:sp>
      <p:sp>
        <p:nvSpPr>
          <p:cNvPr id="101" name="Google Shape;101;p7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FROM node:18-alpine</a:t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oldest sentence in software</a:t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" name="Google Shape;104;p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5400"/>
              <a:buFont typeface="Arial"/>
              <a:buNone/>
            </a:pPr>
            <a:r>
              <a:rPr b="0" i="0" lang="en-US" sz="5400">
                <a:solidFill>
                  <a:srgbClr val="1D3A1C"/>
                </a:solidFill>
              </a:rPr>
              <a:t>🧩</a:t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“But it works on my machine.”</a:t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640080" y="1600200"/>
            <a:ext cx="8620353" cy="134112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-228600" lvl="0" marL="228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Rakib writes it on Ubuntu, Node 20, Postgres 16 — works perfectly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Nusrat pulls the same code on macOS with Node 16 — crashes on startup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university server has Node 18 and no database — every request 500s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What differs: OS version, runtime version, system libraries, installed services, environment variables, file paths, locale, timezone</a:t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" name="Google Shape;108;p7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Nobody wrote bad code. Your app is not just your code — it is your code plus everything it assumes about the machine.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/proc/self/ns</a:t>
            </a: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copy-on-write</a:t>
            </a:r>
            <a:endParaRPr/>
          </a:p>
        </p:txBody>
      </p:sp>
      <p:sp>
        <p:nvSpPr>
          <p:cNvPr id="115" name="Google Shape;115;p8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guest OS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hypervisor</a:t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glibc vs musl</a:t>
            </a:r>
            <a:endParaRPr/>
          </a:p>
        </p:txBody>
      </p:sp>
      <p:sp>
        <p:nvSpPr>
          <p:cNvPr id="119" name="Google Shape;119;p8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ECONNREFUSED</a:t>
            </a:r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127.0.0.1:5432</a:t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SHA-256</a:t>
            </a:r>
            <a:endParaRPr/>
          </a:p>
        </p:txBody>
      </p:sp>
      <p:sp>
        <p:nvSpPr>
          <p:cNvPr id="123" name="Google Shape;123;p8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0X3F3F3F3F</a:t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EXIT 0</a:t>
            </a: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.</a:t>
            </a:r>
            <a:endParaRPr/>
          </a:p>
        </p:txBody>
      </p:sp>
      <p:sp>
        <p:nvSpPr>
          <p:cNvPr id="126" name="Google Shape;126;p8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EXIT 0</a:t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.</a:t>
            </a:r>
            <a:endParaRPr/>
          </a:p>
        </p:txBody>
      </p:sp>
      <p:sp>
        <p:nvSpPr>
          <p:cNvPr id="128" name="Google Shape;128;p8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2000"/>
              <a:buFont typeface="Arial"/>
              <a:buNone/>
            </a:pPr>
            <a:r>
              <a:rPr b="0" i="0" lang="en-US" sz="12000">
                <a:solidFill>
                  <a:srgbClr val="F6F3E7"/>
                </a:solidFill>
              </a:rPr>
              <a:t>💻</a:t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2600"/>
              <a:buFont typeface="Arial"/>
              <a:buNone/>
            </a:pPr>
            <a:r>
              <a:rPr b="1" i="0" lang="en-US" sz="26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“It works on my machine.”</a:t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Fine. Then we will ship your machine.</a:t>
            </a:r>
            <a:b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That sentence is, almost literally, what a container 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/proc/self/ns</a:t>
            </a:r>
            <a:endParaRPr/>
          </a:p>
        </p:txBody>
      </p:sp>
      <p:sp>
        <p:nvSpPr>
          <p:cNvPr id="137" name="Google Shape;137;p9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SHA-256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COPY package.json</a:t>
            </a:r>
            <a:endParaRPr/>
          </a:p>
        </p:txBody>
      </p:sp>
      <p:sp>
        <p:nvSpPr>
          <p:cNvPr id="139" name="Google Shape;139;p9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Three attempts at fixing it</a:t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1" name="Google Shape;141;p9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Write it down → ship the whole computer → ship only the part that differs.</a:t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640080" y="1600200"/>
            <a:ext cx="501944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250"/>
              <a:buFont typeface="Courier New"/>
              <a:buNone/>
            </a:pPr>
            <a:r>
              <a:rPr b="1" i="0" lang="en-US" sz="12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VIRTUAL MACHINES</a:t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640080" y="193395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2322372" y="193395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4004664" y="193395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640080" y="248259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Libs</a:t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2322372" y="248259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Libs</a:t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004664" y="248259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Libs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640080" y="303123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2322372" y="303123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4004664" y="303123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Guest OS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40080" y="3579876"/>
            <a:ext cx="5019446" cy="521208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Hypervisor</a:t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640080" y="4128516"/>
            <a:ext cx="5019446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Host OS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40080" y="4677156"/>
            <a:ext cx="5019446" cy="521208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640080" y="5257800"/>
            <a:ext cx="5019446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050"/>
              <a:buFont typeface="Arial"/>
              <a:buNone/>
            </a:pPr>
            <a:r>
              <a:rPr b="0" i="1" lang="en-US" sz="105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gigabytes · minutes to boot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6532473" y="1600200"/>
            <a:ext cx="501944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250"/>
              <a:buFont typeface="Courier New"/>
              <a:buNone/>
            </a:pPr>
            <a:r>
              <a:rPr b="1" i="0" lang="en-US" sz="12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CONTAINERS</a:t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532473" y="193395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8214765" y="193395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9897057" y="193395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App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6532473" y="248259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Libs</a:t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8214765" y="248259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Libs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9897057" y="2482596"/>
            <a:ext cx="1654860" cy="521208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Libs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6532473" y="3031236"/>
            <a:ext cx="5019446" cy="521208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Container runtime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6532473" y="3579876"/>
            <a:ext cx="5019446" cy="521208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Host OS  —  ONE kernel, shared by all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6532473" y="4128516"/>
            <a:ext cx="5019446" cy="521208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6532473" y="4709160"/>
            <a:ext cx="5019446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050"/>
              <a:buFont typeface="Arial"/>
              <a:buNone/>
            </a:pPr>
            <a:r>
              <a:rPr b="0" i="1" lang="en-US" sz="105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megabytes · under a second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8" name="Google Shape;168;p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A README goes stale in a week. A VM duplicates an entire operating system per app. Containers delete one row from that picture — and that row is worth gigabytes and minutes.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copy-on-write</a:t>
            </a:r>
            <a:endParaRPr/>
          </a:p>
        </p:txBody>
      </p:sp>
      <p:sp>
        <p:nvSpPr>
          <p:cNvPr id="174" name="Google Shape;174;p10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guest OS</a:t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ECONNREFUSED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SHA-256</a:t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0X3F3F3F3F</a:t>
            </a: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EXIT 0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FROM node:18-alpine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FROM node:18-alpine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COPY package.json</a:t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CMD ["node"]</a:t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RUN npm install --omit=dev</a:t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2000"/>
              <a:buFont typeface="Arial"/>
              <a:buNone/>
            </a:pPr>
            <a:r>
              <a:rPr b="0" i="0" lang="en-US" sz="12000">
                <a:solidFill>
                  <a:srgbClr val="F6F3E7"/>
                </a:solidFill>
              </a:rPr>
              <a:t>🗄️   📦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2600"/>
              <a:buFont typeface="Arial"/>
              <a:buNone/>
            </a:pPr>
            <a:r>
              <a:rPr b="1" i="0" lang="en-US" sz="26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Same job, very different luggage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A VM packs its own kitchen, bathroom and roof.</a:t>
            </a:r>
            <a:b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A container packs a toothbrush and uses yours.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ECONNREFUSED</a:t>
            </a:r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EXIT 0</a:t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EXPOSE 3000</a:t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So what IS a container?</a:t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1" name="Google Shape;201;p11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Not a small virtual machine. An ordinary Linux process the kernel has fenced in.</a:t>
            </a:r>
            <a:endParaRPr/>
          </a:p>
        </p:txBody>
      </p:sp>
      <p:graphicFrame>
        <p:nvGraphicFramePr>
          <p:cNvPr id="202" name="Google Shape;202;p11"/>
          <p:cNvGraphicFramePr/>
          <p:nvPr/>
        </p:nvGraphicFramePr>
        <p:xfrm>
          <a:off x="6400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2182375"/>
                <a:gridCol w="87294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Ingredient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the kernel does with 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namespaces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private view of one resource each: its own process list (PID), its own network and IP (NET), its own filesystem tree (MNT), its own hostname (UTS). It cannot see yours.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cgroups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cap on what it may USE: half a core, 512 MB of memory, so much disk and network. Without this, one container starves every other one.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layered filesystem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Its own root filesystem, assembled from stacked read-only layers plus one thin writable layer on top.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1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1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Namespaces decide what it can SEE. cgroups decide what it can USE. Run `ps aux` on the host and the container's process is sitting right there in the list.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127.0.0.1:5432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$PATH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ECONNREFUSED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EXIT 0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SHA-256</a:t>
            </a:r>
            <a:endParaRPr/>
          </a:p>
        </p:txBody>
      </p:sp>
      <p:sp>
        <p:nvSpPr>
          <p:cNvPr id="216" name="Google Shape;216;p12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.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RUN npm install --omit=dev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COPY package.json</a:t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CMD ["node"]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USER node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ps -a</a:t>
            </a: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EXPOSE 3000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2000"/>
              <a:buFont typeface="Arial"/>
              <a:buNone/>
            </a:pPr>
            <a:r>
              <a:rPr b="0" i="0" lang="en-US" sz="12000">
                <a:solidFill>
                  <a:srgbClr val="F6F3E7"/>
                </a:solidFill>
              </a:rPr>
              <a:t>🪞</a:t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2600"/>
              <a:buFont typeface="Arial"/>
              <a:buNone/>
            </a:pPr>
            <a:r>
              <a:rPr b="1" i="0" lang="en-US" sz="26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A container is a process that has been lied to</a:t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The kernel tells it that it is alone in the universe:</a:t>
            </a:r>
            <a:b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its own processes, its own network, its own filesystem.</a:t>
            </a:r>
            <a:b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It believes every word.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0X3F3F3F3F</a:t>
            </a: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.</a:t>
            </a:r>
            <a:endParaRPr/>
          </a:p>
        </p:txBody>
      </p:sp>
      <p:sp>
        <p:nvSpPr>
          <p:cNvPr id="234" name="Google Shape;234;p13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-p 8080:3000</a:t>
            </a:r>
            <a:endParaRPr/>
          </a:p>
        </p:txBody>
      </p:sp>
      <p:sp>
        <p:nvSpPr>
          <p:cNvPr id="235" name="Google Shape;235;p13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layered filesystem</a:t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" name="Google Shape;237;p13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Why images are small to store and instant to start.</a:t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640080" y="171577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WRITABLE LAYER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files changed while running</a:t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8783422" y="171577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this container only — deleted when it dies</a:t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640080" y="258445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layer 4  ·  your source code</a:t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layer 3  ·  npm packages</a:t>
            </a:r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read-only, and SHARED by every container built from this image</a:t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640080" y="432181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layer 2  ·  Node 18 runtime</a:t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640080" y="519049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layer 1  ·  Alpine Linux files</a:t>
            </a:r>
            <a:endParaRPr/>
          </a:p>
        </p:txBody>
      </p:sp>
      <p:cxnSp>
        <p:nvCxnSpPr>
          <p:cNvPr id="245" name="Google Shape;245;p13"/>
          <p:cNvCxnSpPr/>
          <p:nvPr/>
        </p:nvCxnSpPr>
        <p:spPr>
          <a:xfrm>
            <a:off x="4677461" y="237871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" name="Google Shape;246;p13"/>
          <p:cNvCxnSpPr/>
          <p:nvPr/>
        </p:nvCxnSpPr>
        <p:spPr>
          <a:xfrm>
            <a:off x="4677461" y="324739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7" name="Google Shape;247;p13"/>
          <p:cNvCxnSpPr/>
          <p:nvPr/>
        </p:nvCxnSpPr>
        <p:spPr>
          <a:xfrm>
            <a:off x="4677461" y="411607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" name="Google Shape;248;p13"/>
          <p:cNvCxnSpPr/>
          <p:nvPr/>
        </p:nvCxnSpPr>
        <p:spPr>
          <a:xfrm>
            <a:off x="4677461" y="498475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9" name="Google Shape;249;p13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0" name="Google Shape;250;p13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Ten containers from one image share the read-only layers, stored once. Starting one copies nothing — it just adds a new top layer. And when it dies, that top layer dies with it.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O(N LOG N)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.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COPY package.json</a:t>
            </a:r>
            <a:endParaRPr/>
          </a:p>
        </p:txBody>
      </p:sp>
      <p:sp>
        <p:nvSpPr>
          <p:cNvPr id="262" name="Google Shape;262;p14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FROM node:18-alpine</a:t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RUN npm install --omit=dev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COPY package.json</a:t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EXPOSE 3000</a:t>
            </a:r>
            <a:endParaRPr/>
          </a:p>
        </p:txBody>
      </p:sp>
      <p:sp>
        <p:nvSpPr>
          <p:cNvPr id="266" name="Google Shape;266;p14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CMD ["node"]</a:t>
            </a:r>
            <a:endParaRPr/>
          </a:p>
        </p:txBody>
      </p:sp>
      <p:sp>
        <p:nvSpPr>
          <p:cNvPr id="267" name="Google Shape;267;p14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USER node</a:t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ps -a</a:t>
            </a:r>
            <a:endParaRPr/>
          </a:p>
        </p:txBody>
      </p:sp>
      <p:sp>
        <p:nvSpPr>
          <p:cNvPr id="269" name="Google Shape;269;p1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logs -f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.dockerignore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fmla="val 50000" name="adj"/>
            </a:avLst>
          </a:prstGeom>
          <a:solidFill>
            <a:srgbClr val="7F91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Courier New"/>
              <a:buNone/>
            </a:pPr>
            <a:r>
              <a:rPr b="1" i="0" lang="en-US" sz="900">
                <a:solidFill>
                  <a:srgbClr val="12250F"/>
                </a:solidFill>
                <a:latin typeface="Courier New"/>
                <a:ea typeface="Courier New"/>
                <a:cs typeface="Courier New"/>
                <a:sym typeface="Courier New"/>
              </a:rPr>
              <a:t>CHAPTER</a:t>
            </a:r>
            <a:endParaRPr/>
          </a:p>
        </p:txBody>
      </p:sp>
      <p:sp>
        <p:nvSpPr>
          <p:cNvPr id="272" name="Google Shape;272;p14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Part 2 — Docker</a:t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" name="Google Shape;274;p14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The tool that builds and runs containers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SHA-256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-d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What is Docker, precisely?</a:t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4" name="Google Shape;284;p15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Docker did not invent containers. It made them usable by ordinary people.</a:t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640080" y="171577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docker CLI</a:t>
            </a:r>
            <a:endParaRPr/>
          </a:p>
        </p:txBody>
      </p:sp>
      <p:sp>
        <p:nvSpPr>
          <p:cNvPr id="286" name="Google Shape;286;p15"/>
          <p:cNvSpPr txBox="1"/>
          <p:nvPr/>
        </p:nvSpPr>
        <p:spPr>
          <a:xfrm>
            <a:off x="8783422" y="171577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the command you type</a:t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640080" y="258445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dockerd</a:t>
            </a: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8783422" y="258445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background service, does the real work</a:t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containerd</a:t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manages the container lifecycle</a:t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640080" y="432181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runc</a:t>
            </a:r>
            <a:endParaRPr/>
          </a:p>
        </p:txBody>
      </p:sp>
      <p:sp>
        <p:nvSpPr>
          <p:cNvPr id="292" name="Google Shape;292;p15"/>
          <p:cNvSpPr txBox="1"/>
          <p:nvPr/>
        </p:nvSpPr>
        <p:spPr>
          <a:xfrm>
            <a:off x="8783422" y="432181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actually talks to the kernel</a:t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640080" y="519049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Linux kernel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namespaces + cgroups</a:t>
            </a:r>
            <a:endParaRPr/>
          </a:p>
        </p:txBody>
      </p:sp>
      <p:cxnSp>
        <p:nvCxnSpPr>
          <p:cNvPr id="294" name="Google Shape;294;p15"/>
          <p:cNvCxnSpPr/>
          <p:nvPr/>
        </p:nvCxnSpPr>
        <p:spPr>
          <a:xfrm>
            <a:off x="4677461" y="237871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" name="Google Shape;295;p15"/>
          <p:cNvSpPr txBox="1"/>
          <p:nvPr/>
        </p:nvSpPr>
        <p:spPr>
          <a:xfrm>
            <a:off x="640080" y="2279650"/>
            <a:ext cx="8074762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over a socket</a:t>
            </a:r>
            <a:endParaRPr/>
          </a:p>
        </p:txBody>
      </p:sp>
      <p:cxnSp>
        <p:nvCxnSpPr>
          <p:cNvPr id="296" name="Google Shape;296;p15"/>
          <p:cNvCxnSpPr/>
          <p:nvPr/>
        </p:nvCxnSpPr>
        <p:spPr>
          <a:xfrm>
            <a:off x="4677461" y="324739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15"/>
          <p:cNvCxnSpPr/>
          <p:nvPr/>
        </p:nvCxnSpPr>
        <p:spPr>
          <a:xfrm>
            <a:off x="4677461" y="411607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" name="Google Shape;298;p15"/>
          <p:cNvCxnSpPr/>
          <p:nvPr/>
        </p:nvCxnSpPr>
        <p:spPr>
          <a:xfrm>
            <a:off x="4677461" y="498475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15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0" name="Google Shape;300;p15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You only ever touch the top box. The lower three follow the OCI standard — which is why Podman, containerd and Kubernetes can all run the same images.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.</a:t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EXPOSE 3000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multi-stage build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two words people mix up forever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310" name="Google Shape;310;p16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5455925"/>
                <a:gridCol w="5455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Container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file. Sits on disk doing nothing.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running process.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Read-only, frozen. Built once.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Has live state, memory, logs.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 a class in your code.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 an object created from that class.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 a recipe.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Like the meal you cooked from it.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nsu-guestbook:v1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thing listed by `docker 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311" name="Google Shape;311;p16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2" name="Google Shape;312;p16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One image can produce a thousand identical containers. That single fact is the entire scaling story later.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EXIT 0</a:t>
            </a:r>
            <a:endParaRPr/>
          </a:p>
        </p:txBody>
      </p:sp>
      <p:sp>
        <p:nvSpPr>
          <p:cNvPr id="318" name="Google Shape;318;p17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exec -it sh</a:t>
            </a:r>
            <a:endParaRPr/>
          </a:p>
        </p:txBody>
      </p:sp>
      <p:sp>
        <p:nvSpPr>
          <p:cNvPr id="319" name="Google Shape;319;p17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image: postgres:16-alpine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Dockerfile, and the one habit that matters</a:t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2" name="Google Shape;322;p17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A recipe. Each instruction becomes a cached layer.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640080" y="1600200"/>
            <a:ext cx="10911840" cy="208978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FROM node:18-alpine          # base image                  &lt;- cached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                 # cd, inside the image        &lt;- cached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COPY package.json ./         # ONLY the dependency list    &lt;- cached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RUN npm install --omit=dev   # the slow one, 60 seconds    &lt;- cached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COPY . .                     # now the source          &lt;- REBUILDS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EXPOSE 3000                  # documents the port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USER node                    # do not run as root. free win.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CMD ["node", "server.js"]    # what runs WHEN IT STARTS</a:t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5" name="Google Shape;325;p17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Copy package.json and install BEFORE the source, or every code change reinstalls every dependency. Once one layer is invalidated, everything after it rebuilds too.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WORKDIR /app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-p 8080:3000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down -v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Ports — how the outside gets in</a:t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5" name="Google Shape;335;p18"/>
          <p:cNvSpPr txBox="1"/>
          <p:nvPr/>
        </p:nvSpPr>
        <p:spPr>
          <a:xfrm>
            <a:off x="640080" y="1188720"/>
            <a:ext cx="10911840" cy="876300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docker run -p 8080:3000 myapp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----  ----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|      +-- port INSIDE the container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+--------- port on YOUR machine</a:t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640080" y="2316480"/>
            <a:ext cx="2277846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localhost:8080</a:t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3518077" y="2316480"/>
            <a:ext cx="2277846" cy="640080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YOUR MACHINE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port 8080 published</a:t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6396074" y="2316480"/>
            <a:ext cx="2277846" cy="640080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CONTAINER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port 3000</a:t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9274071" y="2316480"/>
            <a:ext cx="2277846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YOUR APP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listening</a:t>
            </a:r>
            <a:endParaRPr/>
          </a:p>
        </p:txBody>
      </p:sp>
      <p:cxnSp>
        <p:nvCxnSpPr>
          <p:cNvPr id="340" name="Google Shape;340;p18"/>
          <p:cNvCxnSpPr/>
          <p:nvPr/>
        </p:nvCxnSpPr>
        <p:spPr>
          <a:xfrm>
            <a:off x="2945358" y="2636520"/>
            <a:ext cx="545287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" name="Google Shape;341;p18"/>
          <p:cNvCxnSpPr/>
          <p:nvPr/>
        </p:nvCxnSpPr>
        <p:spPr>
          <a:xfrm>
            <a:off x="5823355" y="2636520"/>
            <a:ext cx="545287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2" name="Google Shape;342;p18"/>
          <p:cNvCxnSpPr/>
          <p:nvPr/>
        </p:nvCxnSpPr>
        <p:spPr>
          <a:xfrm>
            <a:off x="8701352" y="2636520"/>
            <a:ext cx="545287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3" name="Google Shape;343;p1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" name="Google Shape;344;p18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EXPOSE in the Dockerfile only documents intent — `-p` is what actually opens the door. "It runs but I cannot open it in the browser" is nearly always a missing -p.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.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layer cached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healthcheck: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networking mistake everyone makes</a:t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4" name="Google Shape;354;p19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Inside a container, `localhost` means THAT CONTAINER. Not your laptop.</a:t>
            </a:r>
            <a:endParaRPr/>
          </a:p>
        </p:txBody>
      </p:sp>
      <p:sp>
        <p:nvSpPr>
          <p:cNvPr id="355" name="Google Shape;355;p19"/>
          <p:cNvSpPr txBox="1"/>
          <p:nvPr/>
        </p:nvSpPr>
        <p:spPr>
          <a:xfrm>
            <a:off x="640080" y="1600200"/>
            <a:ext cx="10911840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-228600" lvl="0" marL="228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Each container gets its own network namespace and its own IP address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Two containers on the same user-defined network reach each other by NAME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Docker runs a small DNS server that resolves those names to IPs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640080" y="2731770"/>
            <a:ext cx="10911840" cy="529590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DB_HOST=localhost   # wrong inside a container -- it means itself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DB_HOST=db          # right -- the NAME of the other container</a:t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8" name="Google Shape;358;p1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We will hit this live in Checkpoint 2, on purpose. Learn the shape of the error: ECONNREFUSED 127.0.0.1:5432</a:t>
            </a:r>
            <a:endParaRPr/>
          </a:p>
        </p:txBody>
      </p:sp>
      <p:graphicFrame>
        <p:nvGraphicFramePr>
          <p:cNvPr id="359" name="Google Shape;359;p19"/>
          <p:cNvGraphicFramePr/>
          <p:nvPr/>
        </p:nvGraphicFramePr>
        <p:xfrm>
          <a:off x="609605" y="33786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2837075"/>
                <a:gridCol w="80747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bridge (default)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Private virtual network on the host. Needs -p to be reachable.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user-defined bridge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Same, plus name-based DNS between containers. What Compose creates.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isolation — uses the host's network directly. Fast, but no -p and name clashes.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networking at all. For batch jobs that only touch files.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RUN npm install --omit=dev</a:t>
            </a:r>
            <a:endParaRPr/>
          </a:p>
        </p:txBody>
      </p:sp>
      <p:sp>
        <p:nvSpPr>
          <p:cNvPr id="365" name="Google Shape;365;p20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exec -it sh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containerd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Storage, and the idea everything rests on</a:t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9" name="Google Shape;369;p20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Nothing written inside a container survives the container.</a:t>
            </a:r>
            <a:endParaRPr/>
          </a:p>
        </p:txBody>
      </p:sp>
      <p:sp>
        <p:nvSpPr>
          <p:cNvPr id="370" name="Google Shape;370;p20"/>
          <p:cNvSpPr txBox="1"/>
          <p:nvPr/>
        </p:nvSpPr>
        <p:spPr>
          <a:xfrm>
            <a:off x="640080" y="1600200"/>
            <a:ext cx="10911840" cy="73914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-228600" lvl="0" marL="228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 volume is storage Docker manages OUTSIDE the container — use it for real data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 bind mount maps a folder from your machine in — use it to live-edit code</a:t>
            </a:r>
            <a:endParaRPr/>
          </a:p>
        </p:txBody>
      </p:sp>
      <p:graphicFrame>
        <p:nvGraphicFramePr>
          <p:cNvPr id="371" name="Google Shape;371;p20"/>
          <p:cNvGraphicFramePr/>
          <p:nvPr/>
        </p:nvGraphicFramePr>
        <p:xfrm>
          <a:off x="640080" y="2430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5455925"/>
                <a:gridCol w="5455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Stateless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Stateful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Keeps nothing important in itself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Owns data that must survive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 copy can serve any request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Copies are not interchangeable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Kill it, restart it, nothing is lost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Kill it carelessly and you lose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Trivial to run ten of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 to run more than one correctly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Your API, web server, worker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Postgres, MySQL, Redis, file storage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372" name="Google Shape;372;p2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" name="Google Shape;373;p2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Containers are cattle, volumes are pets. Docker and Kubernetes are brilliant at stateless things and merely adequate at stateful ones.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USER node</a:t>
            </a:r>
            <a:endParaRPr/>
          </a:p>
        </p:txBody>
      </p:sp>
      <p:sp>
        <p:nvSpPr>
          <p:cNvPr id="379" name="Google Shape;379;p21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multi-stage build</a:t>
            </a:r>
            <a:endParaRPr/>
          </a:p>
        </p:txBody>
      </p:sp>
      <p:sp>
        <p:nvSpPr>
          <p:cNvPr id="380" name="Google Shape;380;p21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named volume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Docker Compose — several containers, one command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" name="Google Shape;383;p21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Real apps are more than one container. Typing `docker run` for each is not a plan.</a:t>
            </a:r>
            <a:endParaRPr/>
          </a:p>
        </p:txBody>
      </p:sp>
      <p:sp>
        <p:nvSpPr>
          <p:cNvPr id="384" name="Google Shape;384;p21"/>
          <p:cNvSpPr txBox="1"/>
          <p:nvPr/>
        </p:nvSpPr>
        <p:spPr>
          <a:xfrm>
            <a:off x="640080" y="1600200"/>
            <a:ext cx="10911840" cy="2263140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services: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db: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image: postgres:16-alpine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volumes: [ db_data:/var/lib/postgresql/data 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healthcheck: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  test: ["CMD-SHELL", "pg_isready -U nsu -d nsu_demo"]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api: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build: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ports: [ "8080:3000" 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environment: { DB_HOST: db }    # &lt;- the service NAME, not an IP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depends_on: { db: { condition: service_healthy }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volumes: { db_data: }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6" name="Google Shape;386;p2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Compose puts every service on one network and gives each a DNS name equal to its service name. Hold on to that — Kubernetes Services work the same way, for the same reason.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EXPOSE 3000</a:t>
            </a:r>
            <a:endParaRPr/>
          </a:p>
        </p:txBody>
      </p:sp>
      <p:sp>
        <p:nvSpPr>
          <p:cNvPr id="392" name="Google Shape;392;p22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image: postgres:16-alpine</a:t>
            </a:r>
            <a:endParaRPr/>
          </a:p>
        </p:txBody>
      </p:sp>
      <p:sp>
        <p:nvSpPr>
          <p:cNvPr id="393" name="Google Shape;393;p2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overlayfs</a:t>
            </a:r>
            <a:endParaRPr/>
          </a:p>
        </p:txBody>
      </p:sp>
      <p:sp>
        <p:nvSpPr>
          <p:cNvPr id="394" name="Google Shape;394;p22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Where Docker stops</a:t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6" name="Google Shape;396;p22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5400"/>
              <a:buFont typeface="Arial"/>
              <a:buNone/>
            </a:pPr>
            <a:r>
              <a:rPr b="0" i="0" lang="en-US" sz="5400">
                <a:solidFill>
                  <a:srgbClr val="1D3A1C"/>
                </a:solidFill>
              </a:rPr>
              <a:t>🛑</a:t>
            </a:r>
            <a:endParaRPr/>
          </a:p>
        </p:txBody>
      </p:sp>
      <p:sp>
        <p:nvSpPr>
          <p:cNvPr id="397" name="Google Shape;397;p22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You launch tonight. Real users. What does Docker not do for you?</a:t>
            </a:r>
            <a:endParaRPr/>
          </a:p>
        </p:txBody>
      </p:sp>
      <p:sp>
        <p:nvSpPr>
          <p:cNvPr id="398" name="Google Shape;398;p22"/>
          <p:cNvSpPr txBox="1"/>
          <p:nvPr/>
        </p:nvSpPr>
        <p:spPr>
          <a:xfrm>
            <a:off x="640080" y="1600200"/>
            <a:ext cx="8620353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-228600" lvl="0" marL="228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It runs on ONE machine — getting to two is entirely your problem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Your app crashes at 3 a.m. and nothing restarts it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Deploying a new version means stopping the old one: downtime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 container that hangs without exiting keeps receiving traffic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No rollback button when the new version turns out to be broken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No way to spread containers across machines by available capacity</a:t>
            </a:r>
            <a:endParaRPr/>
          </a:p>
        </p:txBody>
      </p:sp>
      <p:sp>
        <p:nvSpPr>
          <p:cNvPr id="399" name="Google Shape;399;p22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0" name="Google Shape;400;p2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Docker BUILDS and RUNS containers. It does not OPERATE them. That gap has a name: orchestration.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-p 8080:3000</a:t>
            </a:r>
            <a:endParaRPr/>
          </a:p>
        </p:txBody>
      </p:sp>
      <p:sp>
        <p:nvSpPr>
          <p:cNvPr id="406" name="Google Shape;406;p23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exec -it sh</a:t>
            </a:r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layer cached</a:t>
            </a:r>
            <a:endParaRPr/>
          </a:p>
        </p:txBody>
      </p:sp>
      <p:sp>
        <p:nvSpPr>
          <p:cNvPr id="408" name="Google Shape;408;p23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multi-stage build</a:t>
            </a:r>
            <a:endParaRPr/>
          </a:p>
        </p:txBody>
      </p:sp>
      <p:sp>
        <p:nvSpPr>
          <p:cNvPr id="409" name="Google Shape;409;p23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logs -f</a:t>
            </a:r>
            <a:endParaRPr/>
          </a:p>
        </p:txBody>
      </p:sp>
      <p:sp>
        <p:nvSpPr>
          <p:cNvPr id="410" name="Google Shape;410;p23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layer cached</a:t>
            </a:r>
            <a:endParaRPr/>
          </a:p>
        </p:txBody>
      </p:sp>
      <p:sp>
        <p:nvSpPr>
          <p:cNvPr id="411" name="Google Shape;411;p23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-d</a:t>
            </a:r>
            <a:endParaRPr/>
          </a:p>
        </p:txBody>
      </p:sp>
      <p:sp>
        <p:nvSpPr>
          <p:cNvPr id="412" name="Google Shape;412;p23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depends_on:</a:t>
            </a:r>
            <a:endParaRPr/>
          </a:p>
        </p:txBody>
      </p:sp>
      <p:sp>
        <p:nvSpPr>
          <p:cNvPr id="413" name="Google Shape;413;p23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image: postgres:16-alpine</a:t>
            </a:r>
            <a:endParaRPr/>
          </a:p>
        </p:txBody>
      </p:sp>
      <p:sp>
        <p:nvSpPr>
          <p:cNvPr id="414" name="Google Shape;414;p23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bridge network</a:t>
            </a:r>
            <a:endParaRPr/>
          </a:p>
        </p:txBody>
      </p:sp>
      <p:sp>
        <p:nvSpPr>
          <p:cNvPr id="415" name="Google Shape;415;p23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depends_on:</a:t>
            </a:r>
            <a:endParaRPr/>
          </a:p>
        </p:txBody>
      </p:sp>
      <p:sp>
        <p:nvSpPr>
          <p:cNvPr id="416" name="Google Shape;416;p23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OCI image spec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runc</a:t>
            </a:r>
            <a:endParaRPr/>
          </a:p>
        </p:txBody>
      </p:sp>
      <p:sp>
        <p:nvSpPr>
          <p:cNvPr id="418" name="Google Shape;418;p23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named volume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containerd</a:t>
            </a:r>
            <a:endParaRPr/>
          </a:p>
        </p:txBody>
      </p:sp>
      <p:sp>
        <p:nvSpPr>
          <p:cNvPr id="420" name="Google Shape;420;p23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push ghcr.io/</a:t>
            </a: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fmla="val 50000" name="adj"/>
            </a:avLst>
          </a:prstGeom>
          <a:solidFill>
            <a:srgbClr val="7F91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Courier New"/>
              <a:buNone/>
            </a:pPr>
            <a:r>
              <a:rPr b="1" i="0" lang="en-US" sz="900">
                <a:solidFill>
                  <a:srgbClr val="12250F"/>
                </a:solidFill>
                <a:latin typeface="Courier New"/>
                <a:ea typeface="Courier New"/>
                <a:cs typeface="Courier New"/>
                <a:sym typeface="Courier New"/>
              </a:rPr>
              <a:t>CHAPTER</a:t>
            </a:r>
            <a:endParaRPr/>
          </a:p>
        </p:txBody>
      </p:sp>
      <p:sp>
        <p:nvSpPr>
          <p:cNvPr id="422" name="Google Shape;422;p23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Part 3 — Kubernetes</a:t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4" name="Google Shape;424;p23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Operating containers, across many machines, without you watching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-p 8080:3000</a:t>
            </a:r>
            <a:endParaRPr/>
          </a:p>
        </p:txBody>
      </p:sp>
      <p:sp>
        <p:nvSpPr>
          <p:cNvPr id="430" name="Google Shape;430;p2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bridge network</a:t>
            </a:r>
            <a:endParaRPr/>
          </a:p>
        </p:txBody>
      </p:sp>
      <p:sp>
        <p:nvSpPr>
          <p:cNvPr id="431" name="Google Shape;431;p24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sha256:9f2b...</a:t>
            </a:r>
            <a:endParaRPr/>
          </a:p>
        </p:txBody>
      </p:sp>
      <p:sp>
        <p:nvSpPr>
          <p:cNvPr id="432" name="Google Shape;432;p24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What Kubernetes is, and what it is not</a:t>
            </a:r>
            <a:endParaRPr/>
          </a:p>
        </p:txBody>
      </p:sp>
      <p:sp>
        <p:nvSpPr>
          <p:cNvPr id="433" name="Google Shape;433;p24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4" name="Google Shape;434;p24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40 containers, 6 machines. Somebody must decide what runs where — and fix it when it breaks.</a:t>
            </a:r>
            <a:endParaRPr/>
          </a:p>
        </p:txBody>
      </p:sp>
      <p:graphicFrame>
        <p:nvGraphicFramePr>
          <p:cNvPr id="435" name="Google Shape;435;p24"/>
          <p:cNvGraphicFramePr/>
          <p:nvPr/>
        </p:nvGraphicFramePr>
        <p:xfrm>
          <a:off x="6400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5455925"/>
                <a:gridCol w="5455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IS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is NOT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system that keeps containers running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thing that writes or builds your app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scheduler that places them on machines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replacement for Docker images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self-healing controller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Automatic — you still describe what you want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stable naming and load-balancing layer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Simple — the learning curve is real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Portable across clouds and on-premises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Necessary for most small projects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436" name="Google Shape;436;p24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" name="Google Shape;437;p24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Google ran containers internally for a decade on a system called Borg; Kubernetes is the 2014 open-source redesign of those ideas. Greek for "helmsman" — hence the ship's wheel. "K8s" is K, eight letters, 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layer cached</a:t>
            </a:r>
            <a:endParaRPr/>
          </a:p>
        </p:txBody>
      </p:sp>
      <p:sp>
        <p:nvSpPr>
          <p:cNvPr id="443" name="Google Shape;443;p25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depends_on:</a:t>
            </a:r>
            <a:endParaRPr/>
          </a:p>
        </p:txBody>
      </p:sp>
      <p:sp>
        <p:nvSpPr>
          <p:cNvPr id="444" name="Google Shape;444;p25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kind: Deployment</a:t>
            </a:r>
            <a:endParaRPr/>
          </a:p>
        </p:txBody>
      </p:sp>
      <p:sp>
        <p:nvSpPr>
          <p:cNvPr id="445" name="Google Shape;445;p2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one idea: declare, do not command</a:t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7" name="Google Shape;447;p25"/>
          <p:cNvSpPr txBox="1"/>
          <p:nvPr/>
        </p:nvSpPr>
        <p:spPr>
          <a:xfrm>
            <a:off x="640080" y="1188720"/>
            <a:ext cx="10911840" cy="139636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IMPERATIVE  (Docker)        "start a container"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You said WHAT TO DO, once.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If it dies later, that is your problem.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DECLARATIVE (Kubernetes)    "I want 3 healthy copies of this image"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You said WHAT SHOULD BE TRUE, always.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Something works continuously to keep it true.</a:t>
            </a:r>
            <a:endParaRPr/>
          </a:p>
        </p:txBody>
      </p:sp>
      <p:sp>
        <p:nvSpPr>
          <p:cNvPr id="448" name="Google Shape;448;p25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9" name="Google Shape;449;p25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You stop giving orders and start describing the desired end state. Everything else in this session follows from that one shift.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-d</a:t>
            </a:r>
            <a:endParaRPr/>
          </a:p>
        </p:txBody>
      </p:sp>
      <p:sp>
        <p:nvSpPr>
          <p:cNvPr id="455" name="Google Shape;455;p26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OCI image spec</a:t>
            </a:r>
            <a:endParaRPr/>
          </a:p>
        </p:txBody>
      </p:sp>
      <p:sp>
        <p:nvSpPr>
          <p:cNvPr id="456" name="Google Shape;456;p26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k8s/</a:t>
            </a:r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How that works: the control loop</a:t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9" name="Google Shape;459;p26"/>
          <p:cNvSpPr/>
          <p:nvPr/>
        </p:nvSpPr>
        <p:spPr>
          <a:xfrm>
            <a:off x="1731264" y="1188720"/>
            <a:ext cx="3710025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00"/>
              <a:buFont typeface="Arial"/>
              <a:buNone/>
            </a:pPr>
            <a:r>
              <a:rPr b="1" i="0" lang="en-US" sz="11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OBSERVE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850"/>
              <a:buFont typeface="Arial"/>
              <a:buNone/>
            </a:pPr>
            <a:r>
              <a:rPr b="0" i="1" lang="en-US" sz="8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what is actually running?</a:t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6750711" y="1188720"/>
            <a:ext cx="3710025" cy="640080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100"/>
              <a:buFont typeface="Arial"/>
              <a:buNone/>
            </a:pPr>
            <a:r>
              <a:rPr b="1" i="0" lang="en-US" sz="110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850"/>
              <a:buFont typeface="Arial"/>
              <a:buNone/>
            </a:pPr>
            <a:r>
              <a:rPr b="0" i="1" lang="en-US" sz="8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against what you asked for</a:t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6750711" y="2468880"/>
            <a:ext cx="3710025" cy="640080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00"/>
              <a:buFont typeface="Arial"/>
              <a:buNone/>
            </a:pPr>
            <a:r>
              <a:rPr b="1" i="0" lang="en-US" sz="11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850"/>
              <a:buFont typeface="Arial"/>
              <a:buNone/>
            </a:pPr>
            <a:r>
              <a:rPr b="0" i="1" lang="en-US" sz="8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create · delete · restart</a:t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1731264" y="2468880"/>
            <a:ext cx="3710025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00"/>
              <a:buFont typeface="Arial"/>
              <a:buNone/>
            </a:pPr>
            <a:r>
              <a:rPr b="1" i="0" lang="en-US" sz="11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REPEAT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850"/>
              <a:buFont typeface="Arial"/>
              <a:buNone/>
            </a:pPr>
            <a:r>
              <a:rPr b="0" i="1" lang="en-US" sz="8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nothing is ever 'done'</a:t>
            </a:r>
            <a:endParaRPr/>
          </a:p>
        </p:txBody>
      </p:sp>
      <p:cxnSp>
        <p:nvCxnSpPr>
          <p:cNvPr id="463" name="Google Shape;463;p26"/>
          <p:cNvCxnSpPr/>
          <p:nvPr/>
        </p:nvCxnSpPr>
        <p:spPr>
          <a:xfrm>
            <a:off x="5464149" y="1508760"/>
            <a:ext cx="1263702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4" name="Google Shape;464;p26"/>
          <p:cNvCxnSpPr/>
          <p:nvPr/>
        </p:nvCxnSpPr>
        <p:spPr>
          <a:xfrm>
            <a:off x="8605723" y="1851660"/>
            <a:ext cx="0" cy="59436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5" name="Google Shape;465;p26"/>
          <p:cNvCxnSpPr/>
          <p:nvPr/>
        </p:nvCxnSpPr>
        <p:spPr>
          <a:xfrm rot="10800000">
            <a:off x="5464149" y="2788920"/>
            <a:ext cx="1263702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6" name="Google Shape;466;p26"/>
          <p:cNvCxnSpPr/>
          <p:nvPr/>
        </p:nvCxnSpPr>
        <p:spPr>
          <a:xfrm rot="10800000">
            <a:off x="3586276" y="1851660"/>
            <a:ext cx="0" cy="59436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7" name="Google Shape;467;p26"/>
          <p:cNvSpPr txBox="1"/>
          <p:nvPr/>
        </p:nvSpPr>
        <p:spPr>
          <a:xfrm>
            <a:off x="3695396" y="1988820"/>
            <a:ext cx="480120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050"/>
              <a:buFont typeface="Arial"/>
              <a:buNone/>
            </a:pPr>
            <a:r>
              <a:rPr b="1" i="0" lang="en-US" sz="105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forever,</a:t>
            </a:r>
            <a:br>
              <a:rPr b="1" i="0" lang="en-US" sz="105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5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every few seconds</a:t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9" name="Google Shape;469;p26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A "controller" is just a program running this loop for one kind of object. Desired: 3 pods. Actual: 2. Action: create 1. Loop again. That is reconciliation, and it is all of Kubernetes.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7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image: postgres:16-alpine</a:t>
            </a:r>
            <a:endParaRPr/>
          </a:p>
        </p:txBody>
      </p:sp>
      <p:sp>
        <p:nvSpPr>
          <p:cNvPr id="475" name="Google Shape;475;p27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multi-stage build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down -v</a:t>
            </a:r>
            <a:endParaRPr/>
          </a:p>
        </p:txBody>
      </p:sp>
      <p:sp>
        <p:nvSpPr>
          <p:cNvPr id="477" name="Google Shape;477;p27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depends_on:</a:t>
            </a:r>
            <a:endParaRPr/>
          </a:p>
        </p:txBody>
      </p:sp>
      <p:sp>
        <p:nvSpPr>
          <p:cNvPr id="478" name="Google Shape;478;p2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bridge network</a:t>
            </a:r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OCI image spec</a:t>
            </a:r>
            <a:endParaRPr/>
          </a:p>
        </p:txBody>
      </p:sp>
      <p:sp>
        <p:nvSpPr>
          <p:cNvPr id="480" name="Google Shape;480;p27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bridge network</a:t>
            </a:r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containerd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push ghcr.io/</a:t>
            </a:r>
            <a:endParaRPr/>
          </a:p>
        </p:txBody>
      </p:sp>
      <p:sp>
        <p:nvSpPr>
          <p:cNvPr id="483" name="Google Shape;483;p27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runc</a:t>
            </a:r>
            <a:endParaRPr/>
          </a:p>
        </p:txBody>
      </p:sp>
      <p:sp>
        <p:nvSpPr>
          <p:cNvPr id="484" name="Google Shape;484;p2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sha256:9f2b...</a:t>
            </a:r>
            <a:endParaRPr/>
          </a:p>
        </p:txBody>
      </p:sp>
      <p:sp>
        <p:nvSpPr>
          <p:cNvPr id="485" name="Google Shape;485;p27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push ghcr.io/</a:t>
            </a:r>
            <a:endParaRPr/>
          </a:p>
        </p:txBody>
      </p:sp>
      <p:sp>
        <p:nvSpPr>
          <p:cNvPr id="486" name="Google Shape;486;p27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:latest is a lie</a:t>
            </a:r>
            <a:endParaRPr/>
          </a:p>
        </p:txBody>
      </p:sp>
      <p:sp>
        <p:nvSpPr>
          <p:cNvPr id="487" name="Google Shape;487;p27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kind: Deployment</a:t>
            </a:r>
            <a:endParaRPr/>
          </a:p>
        </p:txBody>
      </p:sp>
      <p:sp>
        <p:nvSpPr>
          <p:cNvPr id="488" name="Google Shape;488;p27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selector: app=api</a:t>
            </a:r>
            <a:endParaRPr/>
          </a:p>
        </p:txBody>
      </p:sp>
      <p:sp>
        <p:nvSpPr>
          <p:cNvPr id="489" name="Google Shape;489;p27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apiVersion: apps/v1</a:t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2000"/>
              <a:buFont typeface="Arial"/>
              <a:buNone/>
            </a:pPr>
            <a:r>
              <a:rPr b="0" i="0" lang="en-US" sz="12000">
                <a:solidFill>
                  <a:srgbClr val="F6F3E7"/>
                </a:solidFill>
              </a:rPr>
              <a:t>🌡️</a:t>
            </a:r>
            <a:endParaRPr/>
          </a:p>
        </p:txBody>
      </p:sp>
      <p:sp>
        <p:nvSpPr>
          <p:cNvPr id="491" name="Google Shape;491;p27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2600"/>
              <a:buFont typeface="Arial"/>
              <a:buNone/>
            </a:pPr>
            <a:r>
              <a:rPr b="1" i="0" lang="en-US" sz="26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Kubernetes is a thermostat</a:t>
            </a:r>
            <a:endParaRPr/>
          </a:p>
        </p:txBody>
      </p:sp>
      <p:sp>
        <p:nvSpPr>
          <p:cNvPr id="492" name="Google Shape;492;p27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You do not switch the heater on and off all night.</a:t>
            </a:r>
            <a:b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You say “22 degrees”, and it argues with reality on your behalf, forever.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8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image: postgres:16-alpine</a:t>
            </a:r>
            <a:endParaRPr/>
          </a:p>
        </p:txBody>
      </p:sp>
      <p:sp>
        <p:nvSpPr>
          <p:cNvPr id="498" name="Google Shape;498;p28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runc</a:t>
            </a:r>
            <a:endParaRPr/>
          </a:p>
        </p:txBody>
      </p:sp>
      <p:sp>
        <p:nvSpPr>
          <p:cNvPr id="499" name="Google Shape;499;p28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kind: Deployment</a:t>
            </a:r>
            <a:endParaRPr/>
          </a:p>
        </p:txBody>
      </p:sp>
      <p:sp>
        <p:nvSpPr>
          <p:cNvPr id="500" name="Google Shape;500;p28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What a cluster is made of</a:t>
            </a:r>
            <a:endParaRPr/>
          </a:p>
        </p:txBody>
      </p:sp>
      <p:sp>
        <p:nvSpPr>
          <p:cNvPr id="501" name="Google Shape;501;p28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2" name="Google Shape;502;p28"/>
          <p:cNvSpPr/>
          <p:nvPr/>
        </p:nvSpPr>
        <p:spPr>
          <a:xfrm>
            <a:off x="640080" y="2259635"/>
            <a:ext cx="10911840" cy="640080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CONTROL PLANE  —  the brain</a:t>
            </a:r>
            <a:endParaRPr/>
          </a:p>
        </p:txBody>
      </p:sp>
      <p:sp>
        <p:nvSpPr>
          <p:cNvPr id="503" name="Google Shape;503;p28"/>
          <p:cNvSpPr/>
          <p:nvPr/>
        </p:nvSpPr>
        <p:spPr>
          <a:xfrm>
            <a:off x="640080" y="3247390"/>
            <a:ext cx="2482443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API server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front door</a:t>
            </a:r>
            <a:endParaRPr/>
          </a:p>
        </p:txBody>
      </p:sp>
      <p:sp>
        <p:nvSpPr>
          <p:cNvPr id="504" name="Google Shape;504;p28"/>
          <p:cNvSpPr/>
          <p:nvPr/>
        </p:nvSpPr>
        <p:spPr>
          <a:xfrm>
            <a:off x="3449878" y="3247390"/>
            <a:ext cx="2482443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placement</a:t>
            </a:r>
            <a:endParaRPr/>
          </a:p>
        </p:txBody>
      </p:sp>
      <p:sp>
        <p:nvSpPr>
          <p:cNvPr id="505" name="Google Shape;505;p28"/>
          <p:cNvSpPr/>
          <p:nvPr/>
        </p:nvSpPr>
        <p:spPr>
          <a:xfrm>
            <a:off x="6259676" y="3247390"/>
            <a:ext cx="2482443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controllers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loops</a:t>
            </a:r>
            <a:endParaRPr/>
          </a:p>
        </p:txBody>
      </p:sp>
      <p:sp>
        <p:nvSpPr>
          <p:cNvPr id="506" name="Google Shape;506;p28"/>
          <p:cNvSpPr/>
          <p:nvPr/>
        </p:nvSpPr>
        <p:spPr>
          <a:xfrm>
            <a:off x="9069474" y="3247390"/>
            <a:ext cx="2482443" cy="640080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etcd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memory</a:t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640080" y="4235145"/>
            <a:ext cx="3419043" cy="640080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NODE 1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kubelet · kube-proxy · pods</a:t>
            </a:r>
            <a:endParaRPr/>
          </a:p>
        </p:txBody>
      </p:sp>
      <p:sp>
        <p:nvSpPr>
          <p:cNvPr id="508" name="Google Shape;508;p28"/>
          <p:cNvSpPr/>
          <p:nvPr/>
        </p:nvSpPr>
        <p:spPr>
          <a:xfrm>
            <a:off x="4386478" y="4235145"/>
            <a:ext cx="3419043" cy="640080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NODE 2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kubelet · kube-proxy · pods</a:t>
            </a:r>
            <a:endParaRPr/>
          </a:p>
        </p:txBody>
      </p:sp>
      <p:sp>
        <p:nvSpPr>
          <p:cNvPr id="509" name="Google Shape;509;p28"/>
          <p:cNvSpPr/>
          <p:nvPr/>
        </p:nvSpPr>
        <p:spPr>
          <a:xfrm>
            <a:off x="8132876" y="4235145"/>
            <a:ext cx="3419043" cy="640080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NODE 3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kubelet · kube-proxy · pods</a:t>
            </a:r>
            <a:endParaRPr/>
          </a:p>
        </p:txBody>
      </p:sp>
      <p:cxnSp>
        <p:nvCxnSpPr>
          <p:cNvPr id="510" name="Google Shape;510;p28"/>
          <p:cNvCxnSpPr/>
          <p:nvPr/>
        </p:nvCxnSpPr>
        <p:spPr>
          <a:xfrm>
            <a:off x="6096000" y="2922575"/>
            <a:ext cx="0" cy="150977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28"/>
          <p:cNvCxnSpPr/>
          <p:nvPr/>
        </p:nvCxnSpPr>
        <p:spPr>
          <a:xfrm>
            <a:off x="1881301" y="3073552"/>
            <a:ext cx="8429394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28"/>
          <p:cNvCxnSpPr/>
          <p:nvPr/>
        </p:nvCxnSpPr>
        <p:spPr>
          <a:xfrm>
            <a:off x="1881301" y="3073552"/>
            <a:ext cx="0" cy="150978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3" name="Google Shape;513;p28"/>
          <p:cNvCxnSpPr/>
          <p:nvPr/>
        </p:nvCxnSpPr>
        <p:spPr>
          <a:xfrm>
            <a:off x="4691099" y="3073552"/>
            <a:ext cx="0" cy="150978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4" name="Google Shape;514;p28"/>
          <p:cNvCxnSpPr/>
          <p:nvPr/>
        </p:nvCxnSpPr>
        <p:spPr>
          <a:xfrm>
            <a:off x="7500897" y="3073552"/>
            <a:ext cx="0" cy="150978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5" name="Google Shape;515;p28"/>
          <p:cNvCxnSpPr/>
          <p:nvPr/>
        </p:nvCxnSpPr>
        <p:spPr>
          <a:xfrm>
            <a:off x="10310695" y="3073552"/>
            <a:ext cx="0" cy="150978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6" name="Google Shape;516;p28"/>
          <p:cNvCxnSpPr/>
          <p:nvPr/>
        </p:nvCxnSpPr>
        <p:spPr>
          <a:xfrm>
            <a:off x="1881301" y="3910330"/>
            <a:ext cx="468300" cy="301955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7" name="Google Shape;517;p28"/>
          <p:cNvCxnSpPr/>
          <p:nvPr/>
        </p:nvCxnSpPr>
        <p:spPr>
          <a:xfrm>
            <a:off x="4691099" y="3910330"/>
            <a:ext cx="1404900" cy="301955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28"/>
          <p:cNvCxnSpPr/>
          <p:nvPr/>
        </p:nvCxnSpPr>
        <p:spPr>
          <a:xfrm>
            <a:off x="7500897" y="3910330"/>
            <a:ext cx="2341500" cy="301955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9" name="Google Shape;519;p2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0" name="Google Shape;520;p28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A node is just a machine that has agreed to run pods. `kubectl` talks only to the API server; the scheduler picks nodes; `kubelet` starts the containers; etcd remembers everything.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9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down -v</a:t>
            </a:r>
            <a:endParaRPr/>
          </a:p>
        </p:txBody>
      </p:sp>
      <p:sp>
        <p:nvSpPr>
          <p:cNvPr id="526" name="Google Shape;526;p29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:latest is a lie</a:t>
            </a:r>
            <a:endParaRPr/>
          </a:p>
        </p:txBody>
      </p:sp>
      <p:sp>
        <p:nvSpPr>
          <p:cNvPr id="527" name="Google Shape;527;p29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spec vs status</a:t>
            </a:r>
            <a:endParaRPr/>
          </a:p>
        </p:txBody>
      </p:sp>
      <p:sp>
        <p:nvSpPr>
          <p:cNvPr id="528" name="Google Shape;528;p29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Everything is an object, and they all look the same</a:t>
            </a:r>
            <a:endParaRPr/>
          </a:p>
        </p:txBody>
      </p:sp>
      <p:sp>
        <p:nvSpPr>
          <p:cNvPr id="529" name="Google Shape;529;p29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0" name="Google Shape;530;p29"/>
          <p:cNvSpPr txBox="1"/>
          <p:nvPr/>
        </p:nvSpPr>
        <p:spPr>
          <a:xfrm>
            <a:off x="640080" y="1188720"/>
            <a:ext cx="10911840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-228600" lvl="0" marL="228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Namespace = a folder · Pod = the smallest running unit · Deployment = keeps N pods alive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Service = a stable name in front of pods · ConfigMap and Secret = config · PVC = disk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StatefulSet (databases) · DaemonSet (one per node) · Job and CronJob (batch work)</a:t>
            </a:r>
            <a:endParaRPr/>
          </a:p>
        </p:txBody>
      </p:sp>
      <p:sp>
        <p:nvSpPr>
          <p:cNvPr id="531" name="Google Shape;531;p29"/>
          <p:cNvSpPr txBox="1"/>
          <p:nvPr/>
        </p:nvSpPr>
        <p:spPr>
          <a:xfrm>
            <a:off x="640080" y="2320290"/>
            <a:ext cx="10911840" cy="174307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apiVersion: apps/v1      # which API group and version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kind: Deployment         # WHAT TYPE of object this 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metadata: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name: api              # its 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namespace: nsu-demo    # which folder it lives 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spec:                    # WHAT YOU WANT   &lt;- you write this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replicas: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status:                  # WHAT IS TRUE    &lt;- Kubernetes writes this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readyReplicas: 3</a:t>
            </a: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3" name="Google Shape;533;p29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spec is your wish, status is reality, and a controller's whole job is dragging status towards spec.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0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bridge network</a:t>
            </a:r>
            <a:endParaRPr/>
          </a:p>
        </p:txBody>
      </p:sp>
      <p:sp>
        <p:nvSpPr>
          <p:cNvPr id="539" name="Google Shape;539;p30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docker push ghcr.io/</a:t>
            </a:r>
            <a:endParaRPr/>
          </a:p>
        </p:txBody>
      </p:sp>
      <p:sp>
        <p:nvSpPr>
          <p:cNvPr id="540" name="Google Shape;540;p30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Why you never write a Pod by hand</a:t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3" name="Google Shape;543;p30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Create a bare pod, delete it, and it is simply gone. Nothing brings it back.</a:t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640080" y="215011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</p:txBody>
      </p:sp>
      <p:sp>
        <p:nvSpPr>
          <p:cNvPr id="545" name="Google Shape;545;p30"/>
          <p:cNvSpPr txBox="1"/>
          <p:nvPr/>
        </p:nvSpPr>
        <p:spPr>
          <a:xfrm>
            <a:off x="8783422" y="215011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"3 copies, and update them safely" — the only part you write</a:t>
            </a:r>
            <a:endParaRPr/>
          </a:p>
        </p:txBody>
      </p:sp>
      <p:sp>
        <p:nvSpPr>
          <p:cNvPr id="546" name="Google Shape;546;p30"/>
          <p:cNvSpPr/>
          <p:nvPr/>
        </p:nvSpPr>
        <p:spPr>
          <a:xfrm>
            <a:off x="640080" y="301879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ReplicaSet</a:t>
            </a:r>
            <a:endParaRPr/>
          </a:p>
        </p:txBody>
      </p:sp>
      <p:sp>
        <p:nvSpPr>
          <p:cNvPr id="547" name="Google Shape;547;p30"/>
          <p:cNvSpPr txBox="1"/>
          <p:nvPr/>
        </p:nvSpPr>
        <p:spPr>
          <a:xfrm>
            <a:off x="8783422" y="301879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"there must be exactly 3 pods with this label"</a:t>
            </a:r>
            <a:endParaRPr/>
          </a:p>
        </p:txBody>
      </p:sp>
      <p:sp>
        <p:nvSpPr>
          <p:cNvPr id="548" name="Google Shape;548;p30"/>
          <p:cNvSpPr/>
          <p:nvPr/>
        </p:nvSpPr>
        <p:spPr>
          <a:xfrm>
            <a:off x="640080" y="3887470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</p:txBody>
      </p:sp>
      <p:sp>
        <p:nvSpPr>
          <p:cNvPr id="549" name="Google Shape;549;p30"/>
          <p:cNvSpPr/>
          <p:nvPr/>
        </p:nvSpPr>
        <p:spPr>
          <a:xfrm>
            <a:off x="3412414" y="3887470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</p:txBody>
      </p:sp>
      <p:sp>
        <p:nvSpPr>
          <p:cNvPr id="550" name="Google Shape;550;p30"/>
          <p:cNvSpPr/>
          <p:nvPr/>
        </p:nvSpPr>
        <p:spPr>
          <a:xfrm>
            <a:off x="6184748" y="3887470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</p:txBody>
      </p:sp>
      <p:sp>
        <p:nvSpPr>
          <p:cNvPr id="551" name="Google Shape;551;p30"/>
          <p:cNvSpPr txBox="1"/>
          <p:nvPr/>
        </p:nvSpPr>
        <p:spPr>
          <a:xfrm>
            <a:off x="8783422" y="388747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one or more containers sharing an IP and storage</a:t>
            </a:r>
            <a:endParaRPr/>
          </a:p>
        </p:txBody>
      </p:sp>
      <p:sp>
        <p:nvSpPr>
          <p:cNvPr id="552" name="Google Shape;552;p30"/>
          <p:cNvSpPr/>
          <p:nvPr/>
        </p:nvSpPr>
        <p:spPr>
          <a:xfrm>
            <a:off x="640080" y="4756150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Container</a:t>
            </a:r>
            <a:endParaRPr/>
          </a:p>
        </p:txBody>
      </p:sp>
      <p:sp>
        <p:nvSpPr>
          <p:cNvPr id="553" name="Google Shape;553;p30"/>
          <p:cNvSpPr/>
          <p:nvPr/>
        </p:nvSpPr>
        <p:spPr>
          <a:xfrm>
            <a:off x="3412414" y="4756150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Container</a:t>
            </a:r>
            <a:endParaRPr/>
          </a:p>
        </p:txBody>
      </p:sp>
      <p:sp>
        <p:nvSpPr>
          <p:cNvPr id="554" name="Google Shape;554;p30"/>
          <p:cNvSpPr/>
          <p:nvPr/>
        </p:nvSpPr>
        <p:spPr>
          <a:xfrm>
            <a:off x="6184748" y="4756150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Container</a:t>
            </a:r>
            <a:endParaRPr/>
          </a:p>
        </p:txBody>
      </p:sp>
      <p:sp>
        <p:nvSpPr>
          <p:cNvPr id="555" name="Google Shape;555;p30"/>
          <p:cNvSpPr txBox="1"/>
          <p:nvPr/>
        </p:nvSpPr>
        <p:spPr>
          <a:xfrm>
            <a:off x="8783422" y="475615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your image, running</a:t>
            </a:r>
            <a:endParaRPr/>
          </a:p>
        </p:txBody>
      </p:sp>
      <p:cxnSp>
        <p:nvCxnSpPr>
          <p:cNvPr id="556" name="Google Shape;556;p30"/>
          <p:cNvCxnSpPr/>
          <p:nvPr/>
        </p:nvCxnSpPr>
        <p:spPr>
          <a:xfrm>
            <a:off x="4677461" y="281305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7" name="Google Shape;557;p30"/>
          <p:cNvSpPr txBox="1"/>
          <p:nvPr/>
        </p:nvSpPr>
        <p:spPr>
          <a:xfrm>
            <a:off x="640080" y="2713990"/>
            <a:ext cx="8074762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creates and manages</a:t>
            </a:r>
            <a:endParaRPr/>
          </a:p>
        </p:txBody>
      </p:sp>
      <p:cxnSp>
        <p:nvCxnSpPr>
          <p:cNvPr id="558" name="Google Shape;558;p30"/>
          <p:cNvCxnSpPr/>
          <p:nvPr/>
        </p:nvCxnSpPr>
        <p:spPr>
          <a:xfrm>
            <a:off x="4677461" y="368173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30"/>
          <p:cNvCxnSpPr/>
          <p:nvPr/>
        </p:nvCxnSpPr>
        <p:spPr>
          <a:xfrm>
            <a:off x="1905126" y="3773170"/>
            <a:ext cx="5544668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30"/>
          <p:cNvCxnSpPr/>
          <p:nvPr/>
        </p:nvCxnSpPr>
        <p:spPr>
          <a:xfrm>
            <a:off x="1905126" y="377317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1" name="Google Shape;561;p30"/>
          <p:cNvCxnSpPr/>
          <p:nvPr/>
        </p:nvCxnSpPr>
        <p:spPr>
          <a:xfrm>
            <a:off x="4677460" y="377317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2" name="Google Shape;562;p30"/>
          <p:cNvCxnSpPr/>
          <p:nvPr/>
        </p:nvCxnSpPr>
        <p:spPr>
          <a:xfrm>
            <a:off x="7449794" y="377317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3" name="Google Shape;563;p30"/>
          <p:cNvSpPr txBox="1"/>
          <p:nvPr/>
        </p:nvSpPr>
        <p:spPr>
          <a:xfrm>
            <a:off x="640080" y="3582670"/>
            <a:ext cx="8074762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creates and manages</a:t>
            </a:r>
            <a:endParaRPr/>
          </a:p>
        </p:txBody>
      </p:sp>
      <p:cxnSp>
        <p:nvCxnSpPr>
          <p:cNvPr id="564" name="Google Shape;564;p30"/>
          <p:cNvCxnSpPr/>
          <p:nvPr/>
        </p:nvCxnSpPr>
        <p:spPr>
          <a:xfrm>
            <a:off x="1905126" y="455041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5" name="Google Shape;565;p30"/>
          <p:cNvCxnSpPr/>
          <p:nvPr/>
        </p:nvCxnSpPr>
        <p:spPr>
          <a:xfrm>
            <a:off x="4677460" y="455041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6" name="Google Shape;566;p30"/>
          <p:cNvCxnSpPr/>
          <p:nvPr/>
        </p:nvCxnSpPr>
        <p:spPr>
          <a:xfrm>
            <a:off x="7449794" y="455041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7" name="Google Shape;567;p3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8" name="Google Shape;568;p3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Pods are mortal: deleted, rescheduled, and the replacement gets a new IP. You write the Deployment; everything below it is created and repaired for you.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1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containerd</a:t>
            </a:r>
            <a:endParaRPr/>
          </a:p>
        </p:txBody>
      </p:sp>
      <p:sp>
        <p:nvSpPr>
          <p:cNvPr id="574" name="Google Shape;574;p31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apiVersion: apps/v1</a:t>
            </a:r>
            <a:endParaRPr/>
          </a:p>
        </p:txBody>
      </p:sp>
      <p:sp>
        <p:nvSpPr>
          <p:cNvPr id="575" name="Google Shape;575;p31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reconcile loop</a:t>
            </a:r>
            <a:endParaRPr/>
          </a:p>
        </p:txBody>
      </p:sp>
      <p:sp>
        <p:nvSpPr>
          <p:cNvPr id="576" name="Google Shape;576;p31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Labels — how everything is wired together</a:t>
            </a:r>
            <a:endParaRPr/>
          </a:p>
        </p:txBody>
      </p:sp>
      <p:sp>
        <p:nvSpPr>
          <p:cNvPr id="577" name="Google Shape;577;p31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8" name="Google Shape;578;p31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Nothing is connected by name or IP. Everything is connected by label.</a:t>
            </a:r>
            <a:endParaRPr/>
          </a:p>
        </p:txBody>
      </p:sp>
      <p:sp>
        <p:nvSpPr>
          <p:cNvPr id="579" name="Google Shape;579;p31"/>
          <p:cNvSpPr txBox="1"/>
          <p:nvPr/>
        </p:nvSpPr>
        <p:spPr>
          <a:xfrm>
            <a:off x="640080" y="1600200"/>
            <a:ext cx="10911840" cy="208978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The Deployment stamps every pod it creates: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template: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metadata: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  labels: { app: api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The ReplicaSet counts pods matching: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selector: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matchLabels: { app: api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The Service sends traffic to pods matching: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selector: { app: api }</a:t>
            </a:r>
            <a:endParaRPr/>
          </a:p>
        </p:txBody>
      </p:sp>
      <p:sp>
        <p:nvSpPr>
          <p:cNvPr id="580" name="Google Shape;580;p3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1" name="Google Shape;581;p3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A label is a key=value sticker; a selector is a query over stickers.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OCI image spec</a:t>
            </a:r>
            <a:endParaRPr/>
          </a:p>
        </p:txBody>
      </p:sp>
      <p:sp>
        <p:nvSpPr>
          <p:cNvPr id="587" name="Google Shape;587;p32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selector: app=api</a:t>
            </a:r>
            <a:endParaRPr/>
          </a:p>
        </p:txBody>
      </p:sp>
      <p:sp>
        <p:nvSpPr>
          <p:cNvPr id="588" name="Google Shape;588;p3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ReplicaSet</a:t>
            </a:r>
            <a:endParaRPr/>
          </a:p>
        </p:txBody>
      </p:sp>
      <p:sp>
        <p:nvSpPr>
          <p:cNvPr id="589" name="Google Shape;589;p32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Service — why pod IPs are useless</a:t>
            </a:r>
            <a:endParaRPr/>
          </a:p>
        </p:txBody>
      </p:sp>
      <p:sp>
        <p:nvSpPr>
          <p:cNvPr id="590" name="Google Shape;590;p32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1" name="Google Shape;591;p32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Pods are replaced constantly, and every replacement has a different IP.</a:t>
            </a:r>
            <a:endParaRPr/>
          </a:p>
        </p:txBody>
      </p:sp>
      <p:sp>
        <p:nvSpPr>
          <p:cNvPr id="592" name="Google Shape;592;p32"/>
          <p:cNvSpPr/>
          <p:nvPr/>
        </p:nvSpPr>
        <p:spPr>
          <a:xfrm>
            <a:off x="640080" y="2498294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everything else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connects to the name "api"</a:t>
            </a:r>
            <a:endParaRPr/>
          </a:p>
        </p:txBody>
      </p:sp>
      <p:sp>
        <p:nvSpPr>
          <p:cNvPr id="593" name="Google Shape;593;p32"/>
          <p:cNvSpPr/>
          <p:nvPr/>
        </p:nvSpPr>
        <p:spPr>
          <a:xfrm>
            <a:off x="640080" y="3453130"/>
            <a:ext cx="8074762" cy="640080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Service  "api"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one name · one stable IP</a:t>
            </a:r>
            <a:endParaRPr/>
          </a:p>
        </p:txBody>
      </p:sp>
      <p:sp>
        <p:nvSpPr>
          <p:cNvPr id="594" name="Google Shape;594;p32"/>
          <p:cNvSpPr txBox="1"/>
          <p:nvPr/>
        </p:nvSpPr>
        <p:spPr>
          <a:xfrm>
            <a:off x="8783422" y="3453130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never changes</a:t>
            </a:r>
            <a:endParaRPr/>
          </a:p>
        </p:txBody>
      </p:sp>
      <p:sp>
        <p:nvSpPr>
          <p:cNvPr id="595" name="Google Shape;595;p32"/>
          <p:cNvSpPr/>
          <p:nvPr/>
        </p:nvSpPr>
        <p:spPr>
          <a:xfrm>
            <a:off x="640080" y="4407966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10.1.3.7</a:t>
            </a:r>
            <a:endParaRPr/>
          </a:p>
        </p:txBody>
      </p:sp>
      <p:sp>
        <p:nvSpPr>
          <p:cNvPr id="596" name="Google Shape;596;p32"/>
          <p:cNvSpPr/>
          <p:nvPr/>
        </p:nvSpPr>
        <p:spPr>
          <a:xfrm>
            <a:off x="3412414" y="4407966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10.1.6.4  (was 10.1.5.2)</a:t>
            </a:r>
            <a:endParaRPr/>
          </a:p>
        </p:txBody>
      </p:sp>
      <p:sp>
        <p:nvSpPr>
          <p:cNvPr id="597" name="Google Shape;597;p32"/>
          <p:cNvSpPr/>
          <p:nvPr/>
        </p:nvSpPr>
        <p:spPr>
          <a:xfrm>
            <a:off x="6184748" y="4407966"/>
            <a:ext cx="2530092" cy="640080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10.1.2.8  (was 10.1.4.9)</a:t>
            </a:r>
            <a:endParaRPr/>
          </a:p>
        </p:txBody>
      </p:sp>
      <p:sp>
        <p:nvSpPr>
          <p:cNvPr id="598" name="Google Shape;598;p32"/>
          <p:cNvSpPr txBox="1"/>
          <p:nvPr/>
        </p:nvSpPr>
        <p:spPr>
          <a:xfrm>
            <a:off x="8783422" y="4407966"/>
            <a:ext cx="27684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50"/>
              <a:buFont typeface="Arial"/>
              <a:buNone/>
            </a:pPr>
            <a:r>
              <a:rPr b="0" i="1" lang="en-US" sz="9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replaced constantly, new IP every time</a:t>
            </a:r>
            <a:endParaRPr/>
          </a:p>
        </p:txBody>
      </p:sp>
      <p:cxnSp>
        <p:nvCxnSpPr>
          <p:cNvPr id="599" name="Google Shape;599;p32"/>
          <p:cNvCxnSpPr/>
          <p:nvPr/>
        </p:nvCxnSpPr>
        <p:spPr>
          <a:xfrm>
            <a:off x="4677461" y="3161234"/>
            <a:ext cx="0" cy="269036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0" name="Google Shape;600;p32"/>
          <p:cNvCxnSpPr/>
          <p:nvPr/>
        </p:nvCxnSpPr>
        <p:spPr>
          <a:xfrm>
            <a:off x="4677461" y="4116070"/>
            <a:ext cx="0" cy="134518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32"/>
          <p:cNvCxnSpPr/>
          <p:nvPr/>
        </p:nvCxnSpPr>
        <p:spPr>
          <a:xfrm>
            <a:off x="1905126" y="4250588"/>
            <a:ext cx="5544668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32"/>
          <p:cNvCxnSpPr/>
          <p:nvPr/>
        </p:nvCxnSpPr>
        <p:spPr>
          <a:xfrm>
            <a:off x="1905126" y="4250588"/>
            <a:ext cx="0" cy="134518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3" name="Google Shape;603;p32"/>
          <p:cNvCxnSpPr/>
          <p:nvPr/>
        </p:nvCxnSpPr>
        <p:spPr>
          <a:xfrm>
            <a:off x="4677460" y="4250588"/>
            <a:ext cx="0" cy="134518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4" name="Google Shape;604;p32"/>
          <p:cNvCxnSpPr/>
          <p:nvPr/>
        </p:nvCxnSpPr>
        <p:spPr>
          <a:xfrm>
            <a:off x="7449794" y="4250588"/>
            <a:ext cx="0" cy="134518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5" name="Google Shape;605;p32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6" name="Google Shape;606;p3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ClusterIP (internal only, the default) · NodePort (a fixed port on every node, fine for demos) · LoadBalancer (asks the cloud for a real one). Inside the cluster it is simply the hostname `api`.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overlayfs</a:t>
            </a:r>
            <a:endParaRPr/>
          </a:p>
        </p:txBody>
      </p:sp>
      <p:sp>
        <p:nvSpPr>
          <p:cNvPr id="612" name="Google Shape;612;p33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metadata.labels</a:t>
            </a:r>
            <a:endParaRPr/>
          </a:p>
        </p:txBody>
      </p:sp>
      <p:sp>
        <p:nvSpPr>
          <p:cNvPr id="613" name="Google Shape;613;p33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</a:t>
            </a:r>
            <a:endParaRPr/>
          </a:p>
        </p:txBody>
      </p:sp>
      <p:sp>
        <p:nvSpPr>
          <p:cNvPr id="614" name="Google Shape;614;p33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ConfigMap and Secret — config outside the image</a:t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6" name="Google Shape;616;p33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The same image must run in dev, staging and production. Only the values change.</a:t>
            </a:r>
            <a:endParaRPr/>
          </a:p>
        </p:txBody>
      </p:sp>
      <p:sp>
        <p:nvSpPr>
          <p:cNvPr id="617" name="Google Shape;617;p33"/>
          <p:cNvSpPr txBox="1"/>
          <p:nvPr/>
        </p:nvSpPr>
        <p:spPr>
          <a:xfrm>
            <a:off x="640080" y="1600200"/>
            <a:ext cx="10911840" cy="1569720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kind: ConfigMap          # boring config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data: { DB_HOST: postgres, DB_NAME: nsu_demo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kind: Secret             # config that would get you fired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stringData: { DB_PASSWORD: nsu_password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$ kubectl get secret db-secret -o jsonpath='{.data.DB_PASSWORD}' | base64 -d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nsu_password</a:t>
            </a:r>
            <a:endParaRPr/>
          </a:p>
        </p:txBody>
      </p:sp>
      <p:sp>
        <p:nvSpPr>
          <p:cNvPr id="618" name="Google Shape;618;p33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9" name="Google Shape;619;p33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A Secret is base64-encoded, NOT encrypted. The real protections are RBAC and encryption-at-rest in etcd. The genuine win here is separation: the credential is not baked into the image.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4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sha256:9f2b...</a:t>
            </a:r>
            <a:endParaRPr/>
          </a:p>
        </p:txBody>
      </p:sp>
      <p:sp>
        <p:nvSpPr>
          <p:cNvPr id="625" name="Google Shape;625;p34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k8s/</a:t>
            </a:r>
            <a:endParaRPr/>
          </a:p>
        </p:txBody>
      </p:sp>
      <p:sp>
        <p:nvSpPr>
          <p:cNvPr id="626" name="Google Shape;626;p34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docker push ghcr.io/</a:t>
            </a:r>
            <a:endParaRPr/>
          </a:p>
        </p:txBody>
      </p:sp>
      <p:sp>
        <p:nvSpPr>
          <p:cNvPr id="627" name="Google Shape;627;p34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:latest is a lie</a:t>
            </a: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apiVersion: apps/v1</a:t>
            </a:r>
            <a:endParaRPr/>
          </a:p>
        </p:txBody>
      </p:sp>
      <p:sp>
        <p:nvSpPr>
          <p:cNvPr id="629" name="Google Shape;629;p34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metadata.labels</a:t>
            </a:r>
            <a:endParaRPr/>
          </a:p>
        </p:txBody>
      </p:sp>
      <p:sp>
        <p:nvSpPr>
          <p:cNvPr id="630" name="Google Shape;630;p34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spec vs status</a:t>
            </a:r>
            <a:endParaRPr/>
          </a:p>
        </p:txBody>
      </p:sp>
      <p:sp>
        <p:nvSpPr>
          <p:cNvPr id="631" name="Google Shape;631;p34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selector: app=api</a:t>
            </a:r>
            <a:endParaRPr/>
          </a:p>
        </p:txBody>
      </p:sp>
      <p:sp>
        <p:nvSpPr>
          <p:cNvPr id="632" name="Google Shape;632;p34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desired state</a:t>
            </a:r>
            <a:endParaRPr/>
          </a:p>
        </p:txBody>
      </p:sp>
      <p:sp>
        <p:nvSpPr>
          <p:cNvPr id="633" name="Google Shape;633;p34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replicas: 3</a:t>
            </a:r>
            <a:endParaRPr/>
          </a:p>
        </p:txBody>
      </p:sp>
      <p:sp>
        <p:nvSpPr>
          <p:cNvPr id="634" name="Google Shape;634;p34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reconcile loop</a:t>
            </a:r>
            <a:endParaRPr/>
          </a:p>
        </p:txBody>
      </p:sp>
      <p:sp>
        <p:nvSpPr>
          <p:cNvPr id="635" name="Google Shape;635;p34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desired state</a:t>
            </a:r>
            <a:endParaRPr/>
          </a:p>
        </p:txBody>
      </p:sp>
      <p:sp>
        <p:nvSpPr>
          <p:cNvPr id="636" name="Google Shape;636;p34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</a:t>
            </a:r>
            <a:endParaRPr/>
          </a:p>
        </p:txBody>
      </p:sp>
      <p:sp>
        <p:nvSpPr>
          <p:cNvPr id="637" name="Google Shape;637;p34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ReplicaSet</a:t>
            </a:r>
            <a:endParaRPr/>
          </a:p>
        </p:txBody>
      </p:sp>
      <p:sp>
        <p:nvSpPr>
          <p:cNvPr id="638" name="Google Shape;638;p34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NodePort 30080</a:t>
            </a:r>
            <a:endParaRPr/>
          </a:p>
        </p:txBody>
      </p:sp>
      <p:sp>
        <p:nvSpPr>
          <p:cNvPr id="639" name="Google Shape;639;p34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kube-proxy</a:t>
            </a:r>
            <a:endParaRPr/>
          </a:p>
        </p:txBody>
      </p:sp>
      <p:sp>
        <p:nvSpPr>
          <p:cNvPr id="640" name="Google Shape;640;p34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2000"/>
              <a:buFont typeface="Arial"/>
              <a:buNone/>
            </a:pPr>
            <a:r>
              <a:rPr b="0" i="0" lang="en-US" sz="12000">
                <a:solidFill>
                  <a:srgbClr val="F6F3E7"/>
                </a:solidFill>
              </a:rPr>
              <a:t>🔓</a:t>
            </a:r>
            <a:endParaRPr/>
          </a:p>
        </p:txBody>
      </p:sp>
      <p:sp>
        <p:nvSpPr>
          <p:cNvPr id="641" name="Google Shape;641;p34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2600"/>
              <a:buFont typeface="Arial"/>
              <a:buNone/>
            </a:pPr>
            <a:r>
              <a:rPr b="1" i="0" lang="en-US" sz="26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“It’s a Secret, so it’s encrypted”</a:t>
            </a:r>
            <a:endParaRPr/>
          </a:p>
        </p:txBody>
      </p:sp>
      <p:sp>
        <p:nvSpPr>
          <p:cNvPr id="642" name="Google Shape;642;p34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base64 is not encryption. base64 is a hat.</a:t>
            </a:r>
            <a:b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A very small hat, on a very recognisable password.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5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sha256:9f2b...</a:t>
            </a:r>
            <a:endParaRPr/>
          </a:p>
        </p:txBody>
      </p:sp>
      <p:sp>
        <p:nvSpPr>
          <p:cNvPr id="648" name="Google Shape;648;p35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replicas: 3</a:t>
            </a:r>
            <a:endParaRPr/>
          </a:p>
        </p:txBody>
      </p:sp>
      <p:sp>
        <p:nvSpPr>
          <p:cNvPr id="649" name="Google Shape;649;p35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kubelet</a:t>
            </a:r>
            <a:endParaRPr/>
          </a:p>
        </p:txBody>
      </p:sp>
      <p:sp>
        <p:nvSpPr>
          <p:cNvPr id="650" name="Google Shape;650;p3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Probes — how the cluster knows your app is healthy</a:t>
            </a:r>
            <a:endParaRPr/>
          </a:p>
        </p:txBody>
      </p:sp>
      <p:sp>
        <p:nvSpPr>
          <p:cNvPr id="651" name="Google Shape;651;p35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2" name="Google Shape;652;p35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"The process is running" and "the app works" are not the same statement.</a:t>
            </a:r>
            <a:endParaRPr/>
          </a:p>
        </p:txBody>
      </p:sp>
      <p:sp>
        <p:nvSpPr>
          <p:cNvPr id="653" name="Google Shape;653;p35"/>
          <p:cNvSpPr txBox="1"/>
          <p:nvPr/>
        </p:nvSpPr>
        <p:spPr>
          <a:xfrm>
            <a:off x="640080" y="1600200"/>
            <a:ext cx="10911840" cy="70294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readinessProbe: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httpGet: { path: /healthz, port: 3000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periodSeconds: 5</a:t>
            </a:r>
            <a:endParaRPr/>
          </a:p>
        </p:txBody>
      </p:sp>
      <p:graphicFrame>
        <p:nvGraphicFramePr>
          <p:cNvPr id="654" name="Google Shape;654;p35"/>
          <p:cNvGraphicFramePr/>
          <p:nvPr/>
        </p:nvGraphicFramePr>
        <p:xfrm>
          <a:off x="640080" y="23945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1964125"/>
                <a:gridCol w="3491800"/>
                <a:gridCol w="5455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Question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it fails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liveness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Are you alive?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Restart the container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readiness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Ready for traffic?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Remove from the Service — do not restart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Finished booting?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Hold the other probes off a while longer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655" name="Google Shape;655;p35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6" name="Google Shape;656;p35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Readiness is what makes zero-downtime deployment possible: a new pod receives traffic only once it says it is ready.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6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kind: Deployment</a:t>
            </a:r>
            <a:endParaRPr/>
          </a:p>
        </p:txBody>
      </p:sp>
      <p:sp>
        <p:nvSpPr>
          <p:cNvPr id="662" name="Google Shape;662;p36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pods -w</a:t>
            </a:r>
            <a:endParaRPr/>
          </a:p>
        </p:txBody>
      </p:sp>
      <p:sp>
        <p:nvSpPr>
          <p:cNvPr id="663" name="Google Shape;663;p36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kube-proxy</a:t>
            </a:r>
            <a:endParaRPr/>
          </a:p>
        </p:txBody>
      </p:sp>
      <p:sp>
        <p:nvSpPr>
          <p:cNvPr id="664" name="Google Shape;664;p36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three tricks that justify all of this</a:t>
            </a:r>
            <a:endParaRPr/>
          </a:p>
        </p:txBody>
      </p:sp>
      <p:sp>
        <p:nvSpPr>
          <p:cNvPr id="665" name="Google Shape;665;p3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666" name="Google Shape;666;p36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1636775"/>
                <a:gridCol w="2946200"/>
                <a:gridCol w="63288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you do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Kubernetes does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Courier New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kubectl scale --replicas=5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ReplicaSet sees 3 of 5 and creates 2. The Service picks them up automatically — you configured no load balancer.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Self-heal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Nothing. Something breaks.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Container crashes → restarted. Pod deleted → recreated. Node dies → rescheduled elsewhere.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Rolling update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Change the image or an env var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pod up → passes readiness → THEN an old one goes. `maxUnavailable: 0` means no downtime.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</a:tbl>
          </a:graphicData>
        </a:graphic>
      </p:graphicFrame>
      <p:sp>
        <p:nvSpPr>
          <p:cNvPr id="667" name="Google Shape;667;p36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8" name="Google Shape;668;p36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Regret it? `kubectl rollout undo`. Each change created a new ReplicaSet and kept the old ones at zero — so rolling back is just scaling one of them back up.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7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selector: app=api</a:t>
            </a:r>
            <a:endParaRPr/>
          </a:p>
        </p:txBody>
      </p:sp>
      <p:sp>
        <p:nvSpPr>
          <p:cNvPr id="674" name="Google Shape;674;p37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apiVersion: apps/v1</a:t>
            </a:r>
            <a:endParaRPr/>
          </a:p>
        </p:txBody>
      </p:sp>
      <p:sp>
        <p:nvSpPr>
          <p:cNvPr id="675" name="Google Shape;675;p37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metadata.labels</a:t>
            </a:r>
            <a:endParaRPr/>
          </a:p>
        </p:txBody>
      </p:sp>
      <p:sp>
        <p:nvSpPr>
          <p:cNvPr id="676" name="Google Shape;676;p37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replicas: 3</a:t>
            </a:r>
            <a:endParaRPr/>
          </a:p>
        </p:txBody>
      </p:sp>
      <p:sp>
        <p:nvSpPr>
          <p:cNvPr id="677" name="Google Shape;677;p37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desired state</a:t>
            </a:r>
            <a:endParaRPr/>
          </a:p>
        </p:txBody>
      </p:sp>
      <p:sp>
        <p:nvSpPr>
          <p:cNvPr id="678" name="Google Shape;678;p37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reconcile loop</a:t>
            </a:r>
            <a:endParaRPr/>
          </a:p>
        </p:txBody>
      </p:sp>
      <p:sp>
        <p:nvSpPr>
          <p:cNvPr id="679" name="Google Shape;679;p37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spec vs status</a:t>
            </a:r>
            <a:endParaRPr/>
          </a:p>
        </p:txBody>
      </p:sp>
      <p:sp>
        <p:nvSpPr>
          <p:cNvPr id="680" name="Google Shape;680;p37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</a:t>
            </a:r>
            <a:endParaRPr/>
          </a:p>
        </p:txBody>
      </p:sp>
      <p:sp>
        <p:nvSpPr>
          <p:cNvPr id="681" name="Google Shape;681;p37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ClusterIP</a:t>
            </a:r>
            <a:endParaRPr/>
          </a:p>
        </p:txBody>
      </p:sp>
      <p:sp>
        <p:nvSpPr>
          <p:cNvPr id="682" name="Google Shape;682;p37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-f deploy/api</a:t>
            </a:r>
            <a:endParaRPr/>
          </a:p>
        </p:txBody>
      </p:sp>
      <p:sp>
        <p:nvSpPr>
          <p:cNvPr id="683" name="Google Shape;683;p37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NodePort 30080</a:t>
            </a:r>
            <a:endParaRPr/>
          </a:p>
        </p:txBody>
      </p:sp>
      <p:sp>
        <p:nvSpPr>
          <p:cNvPr id="684" name="Google Shape;684;p37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ClusterIP</a:t>
            </a:r>
            <a:endParaRPr/>
          </a:p>
        </p:txBody>
      </p:sp>
      <p:sp>
        <p:nvSpPr>
          <p:cNvPr id="685" name="Google Shape;685;p37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svc.cluster.local</a:t>
            </a:r>
            <a:endParaRPr/>
          </a:p>
        </p:txBody>
      </p:sp>
      <p:sp>
        <p:nvSpPr>
          <p:cNvPr id="686" name="Google Shape;686;p37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kubelet</a:t>
            </a:r>
            <a:endParaRPr/>
          </a:p>
        </p:txBody>
      </p:sp>
      <p:sp>
        <p:nvSpPr>
          <p:cNvPr id="687" name="Google Shape;687;p37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controller-manager</a:t>
            </a:r>
            <a:endParaRPr/>
          </a:p>
        </p:txBody>
      </p:sp>
      <p:sp>
        <p:nvSpPr>
          <p:cNvPr id="688" name="Google Shape;688;p37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kubelet</a:t>
            </a:r>
            <a:endParaRPr/>
          </a:p>
        </p:txBody>
      </p:sp>
      <p:sp>
        <p:nvSpPr>
          <p:cNvPr id="689" name="Google Shape;689;p37"/>
          <p:cNvSpPr txBox="1"/>
          <p:nvPr/>
        </p:nvSpPr>
        <p:spPr>
          <a:xfrm>
            <a:off x="640080" y="1097280"/>
            <a:ext cx="10911840" cy="2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2000"/>
              <a:buFont typeface="Arial"/>
              <a:buNone/>
            </a:pPr>
            <a:r>
              <a:rPr b="0" i="0" lang="en-US" sz="12000">
                <a:solidFill>
                  <a:srgbClr val="F6F3E7"/>
                </a:solidFill>
              </a:rPr>
              <a:t>♻️</a:t>
            </a:r>
            <a:endParaRPr/>
          </a:p>
        </p:txBody>
      </p:sp>
      <p:sp>
        <p:nvSpPr>
          <p:cNvPr id="690" name="Google Shape;690;p37"/>
          <p:cNvSpPr txBox="1"/>
          <p:nvPr/>
        </p:nvSpPr>
        <p:spPr>
          <a:xfrm>
            <a:off x="640080" y="4251960"/>
            <a:ext cx="1091184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2600"/>
              <a:buFont typeface="Arial"/>
              <a:buNone/>
            </a:pPr>
            <a:r>
              <a:rPr b="1" i="0" lang="en-US" sz="26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You deleted the pod. The pod came back.</a:t>
            </a:r>
            <a:endParaRPr/>
          </a:p>
        </p:txBody>
      </p:sp>
      <p:sp>
        <p:nvSpPr>
          <p:cNvPr id="691" name="Google Shape;691;p37"/>
          <p:cNvSpPr txBox="1"/>
          <p:nvPr/>
        </p:nvSpPr>
        <p:spPr>
          <a:xfrm>
            <a:off x="640080" y="5349240"/>
            <a:ext cx="1091184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You deleted it again. It came back again.</a:t>
            </a:r>
            <a:b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You are not in charge here. The Deployment is in charge here.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8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selector: app=api</a:t>
            </a:r>
            <a:endParaRPr/>
          </a:p>
        </p:txBody>
      </p:sp>
      <p:sp>
        <p:nvSpPr>
          <p:cNvPr id="697" name="Google Shape;697;p38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-f deploy/api</a:t>
            </a:r>
            <a:endParaRPr/>
          </a:p>
        </p:txBody>
      </p:sp>
      <p:sp>
        <p:nvSpPr>
          <p:cNvPr id="698" name="Google Shape;698;p38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kube-scheduler</a:t>
            </a:r>
            <a:endParaRPr/>
          </a:p>
        </p:txBody>
      </p:sp>
      <p:sp>
        <p:nvSpPr>
          <p:cNvPr id="699" name="Google Shape;699;p38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When NOT to use Kubernetes</a:t>
            </a:r>
            <a:endParaRPr/>
          </a:p>
        </p:txBody>
      </p:sp>
      <p:sp>
        <p:nvSpPr>
          <p:cNvPr id="700" name="Google Shape;700;p38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1" name="Google Shape;701;p38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5400"/>
              <a:buFont typeface="Arial"/>
              <a:buNone/>
            </a:pPr>
            <a:r>
              <a:rPr b="0" i="0" lang="en-US" sz="5400">
                <a:solidFill>
                  <a:srgbClr val="1D3A1C"/>
                </a:solidFill>
              </a:rPr>
              <a:t>🚫</a:t>
            </a:r>
            <a:endParaRPr/>
          </a:p>
        </p:txBody>
      </p:sp>
      <p:sp>
        <p:nvSpPr>
          <p:cNvPr id="702" name="Google Shape;702;p38"/>
          <p:cNvSpPr txBox="1"/>
          <p:nvPr/>
        </p:nvSpPr>
        <p:spPr>
          <a:xfrm>
            <a:off x="640080" y="1188720"/>
            <a:ext cx="86203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The most useful slide in this deck, and the one most sessions leave out.</a:t>
            </a:r>
            <a:endParaRPr/>
          </a:p>
        </p:txBody>
      </p:sp>
      <p:sp>
        <p:nvSpPr>
          <p:cNvPr id="703" name="Google Shape;703;p38"/>
          <p:cNvSpPr txBox="1"/>
          <p:nvPr/>
        </p:nvSpPr>
        <p:spPr>
          <a:xfrm>
            <a:off x="640080" y="1600200"/>
            <a:ext cx="862035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-228600" lvl="0" marL="228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 student project or a portfolio site — a single container is plenty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One small app with modest traffic — a VM plus Docker Compose is fine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Nobody on the team who can debug it at 3 a.m.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You want a database — use managed Postgres unless you have a real reason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 cluster you did not need still needs upgrading, securing and paying for</a:t>
            </a:r>
            <a:endParaRPr/>
          </a:p>
        </p:txBody>
      </p:sp>
      <p:sp>
        <p:nvSpPr>
          <p:cNvPr id="704" name="Google Shape;704;p38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5" name="Google Shape;705;p38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Kubernetes solves problems of scale. Adopt it when you have those problems, not because it appears on job descriptions.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9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spec vs status</a:t>
            </a:r>
            <a:endParaRPr/>
          </a:p>
        </p:txBody>
      </p:sp>
      <p:sp>
        <p:nvSpPr>
          <p:cNvPr id="711" name="Google Shape;711;p39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reconcile loop</a:t>
            </a:r>
            <a:endParaRPr/>
          </a:p>
        </p:txBody>
      </p:sp>
      <p:sp>
        <p:nvSpPr>
          <p:cNvPr id="712" name="Google Shape;712;p39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replicas: 3</a:t>
            </a:r>
            <a:endParaRPr/>
          </a:p>
        </p:txBody>
      </p:sp>
      <p:sp>
        <p:nvSpPr>
          <p:cNvPr id="713" name="Google Shape;713;p39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desired state</a:t>
            </a:r>
            <a:endParaRPr/>
          </a:p>
        </p:txBody>
      </p:sp>
      <p:sp>
        <p:nvSpPr>
          <p:cNvPr id="714" name="Google Shape;714;p39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pods -w</a:t>
            </a:r>
            <a:endParaRPr/>
          </a:p>
        </p:txBody>
      </p:sp>
      <p:sp>
        <p:nvSpPr>
          <p:cNvPr id="715" name="Google Shape;715;p39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</a:t>
            </a:r>
            <a:endParaRPr/>
          </a:p>
        </p:txBody>
      </p:sp>
      <p:sp>
        <p:nvSpPr>
          <p:cNvPr id="716" name="Google Shape;716;p39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NodePort 30080</a:t>
            </a:r>
            <a:endParaRPr/>
          </a:p>
        </p:txBody>
      </p:sp>
      <p:sp>
        <p:nvSpPr>
          <p:cNvPr id="717" name="Google Shape;717;p39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ReplicaSet</a:t>
            </a:r>
            <a:endParaRPr/>
          </a:p>
        </p:txBody>
      </p:sp>
      <p:sp>
        <p:nvSpPr>
          <p:cNvPr id="718" name="Google Shape;718;p39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svc.cluster.local</a:t>
            </a:r>
            <a:endParaRPr/>
          </a:p>
        </p:txBody>
      </p:sp>
      <p:sp>
        <p:nvSpPr>
          <p:cNvPr id="719" name="Google Shape;719;p39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ClusterIP</a:t>
            </a:r>
            <a:endParaRPr/>
          </a:p>
        </p:txBody>
      </p:sp>
      <p:sp>
        <p:nvSpPr>
          <p:cNvPr id="720" name="Google Shape;720;p39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kube-proxy</a:t>
            </a:r>
            <a:endParaRPr/>
          </a:p>
        </p:txBody>
      </p:sp>
      <p:sp>
        <p:nvSpPr>
          <p:cNvPr id="721" name="Google Shape;721;p39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svc.cluster.local</a:t>
            </a:r>
            <a:endParaRPr/>
          </a:p>
        </p:txBody>
      </p:sp>
      <p:sp>
        <p:nvSpPr>
          <p:cNvPr id="722" name="Google Shape;722;p39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kubelet</a:t>
            </a:r>
            <a:endParaRPr/>
          </a:p>
        </p:txBody>
      </p:sp>
      <p:sp>
        <p:nvSpPr>
          <p:cNvPr id="723" name="Google Shape;723;p39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controller-manager</a:t>
            </a:r>
            <a:endParaRPr/>
          </a:p>
        </p:txBody>
      </p:sp>
      <p:sp>
        <p:nvSpPr>
          <p:cNvPr id="724" name="Google Shape;724;p39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livenessProbe</a:t>
            </a:r>
            <a:endParaRPr/>
          </a:p>
        </p:txBody>
      </p:sp>
      <p:sp>
        <p:nvSpPr>
          <p:cNvPr id="725" name="Google Shape;725;p39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rollout undo</a:t>
            </a:r>
            <a:endParaRPr/>
          </a:p>
        </p:txBody>
      </p:sp>
      <p:sp>
        <p:nvSpPr>
          <p:cNvPr id="726" name="Google Shape;726;p39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fmla="val 50000" name="adj"/>
            </a:avLst>
          </a:prstGeom>
          <a:solidFill>
            <a:srgbClr val="7F91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Courier New"/>
              <a:buNone/>
            </a:pPr>
            <a:r>
              <a:rPr b="1" i="0" lang="en-US" sz="900">
                <a:solidFill>
                  <a:srgbClr val="12250F"/>
                </a:solidFill>
                <a:latin typeface="Courier New"/>
                <a:ea typeface="Courier New"/>
                <a:cs typeface="Courier New"/>
                <a:sym typeface="Courier New"/>
              </a:rPr>
              <a:t>CHAPTER</a:t>
            </a:r>
            <a:endParaRPr/>
          </a:p>
        </p:txBody>
      </p:sp>
      <p:sp>
        <p:nvSpPr>
          <p:cNvPr id="727" name="Google Shape;727;p39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Part 4 — Seeing it work</a:t>
            </a:r>
            <a:endParaRPr/>
          </a:p>
        </p:txBody>
      </p:sp>
      <p:sp>
        <p:nvSpPr>
          <p:cNvPr id="728" name="Google Shape;728;p39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9" name="Google Shape;729;p39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Five checkpoints · run them with me, or later from the repo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0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spec vs status</a:t>
            </a:r>
            <a:endParaRPr/>
          </a:p>
        </p:txBody>
      </p:sp>
      <p:sp>
        <p:nvSpPr>
          <p:cNvPr id="735" name="Google Shape;735;p40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ClusterIP</a:t>
            </a:r>
            <a:endParaRPr/>
          </a:p>
        </p:txBody>
      </p:sp>
      <p:sp>
        <p:nvSpPr>
          <p:cNvPr id="736" name="Google Shape;736;p40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ConfigMap</a:t>
            </a:r>
            <a:endParaRPr/>
          </a:p>
        </p:txBody>
      </p:sp>
      <p:sp>
        <p:nvSpPr>
          <p:cNvPr id="737" name="Google Shape;737;p40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Checkpoint 1 — run it with no Docker at all</a:t>
            </a:r>
            <a:endParaRPr/>
          </a:p>
        </p:txBody>
      </p:sp>
      <p:sp>
        <p:nvSpPr>
          <p:cNvPr id="738" name="Google Shape;738;p40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9" name="Google Shape;739;p40"/>
          <p:cNvSpPr txBox="1"/>
          <p:nvPr/>
        </p:nvSpPr>
        <p:spPr>
          <a:xfrm>
            <a:off x="640080" y="1188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E6B33"/>
              </a:buClr>
              <a:buSzPts val="1500"/>
              <a:buFont typeface="Arial"/>
              <a:buNone/>
            </a:pPr>
            <a:r>
              <a:rPr b="1" i="0" lang="en-US" sz="1500">
                <a:solidFill>
                  <a:srgbClr val="3E6B33"/>
                </a:solidFill>
                <a:latin typeface="Arial"/>
                <a:ea typeface="Arial"/>
                <a:cs typeface="Arial"/>
                <a:sym typeface="Arial"/>
              </a:rPr>
              <a:t>A guestbook: Express + Postgres, ~120 lines. Every page prints who served it.</a:t>
            </a:r>
            <a:endParaRPr/>
          </a:p>
        </p:txBody>
      </p:sp>
      <p:sp>
        <p:nvSpPr>
          <p:cNvPr id="740" name="Google Shape;740;p40"/>
          <p:cNvSpPr txBox="1"/>
          <p:nvPr/>
        </p:nvSpPr>
        <p:spPr>
          <a:xfrm>
            <a:off x="640080" y="1600200"/>
            <a:ext cx="10911840" cy="1569720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cd checkpoints/01-plain-node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node --version               # must be 18 or newer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npm install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sudo apt-get install -y postgresql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sudo -u postgres psql -c "CREATE USER nsu WITH PASSWORD 'nsu_password';"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sudo -u postgres psql -c "CREATE DATABASE nsu_demo OWNER nsu;"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export DB_HOST=localhost DB_USER=nsu DB_PASSWORD=nsu_password DB_NAME=nsu_demo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npm start</a:t>
            </a:r>
            <a:endParaRPr/>
          </a:p>
        </p:txBody>
      </p:sp>
      <p:sp>
        <p:nvSpPr>
          <p:cNvPr id="741" name="Google Shape;741;p40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2" name="Google Shape;742;p40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Count the ways this fails: wrong Node, failed install, no Postgres, wrong password, port in use, wrong OS. Eight failure modes, for 120 lines of code.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1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</a:t>
            </a:r>
            <a:endParaRPr/>
          </a:p>
        </p:txBody>
      </p:sp>
      <p:sp>
        <p:nvSpPr>
          <p:cNvPr id="748" name="Google Shape;748;p41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kube-proxy</a:t>
            </a:r>
            <a:endParaRPr/>
          </a:p>
        </p:txBody>
      </p:sp>
      <p:sp>
        <p:nvSpPr>
          <p:cNvPr id="749" name="Google Shape;749;p41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rollout undo</a:t>
            </a:r>
            <a:endParaRPr/>
          </a:p>
        </p:txBody>
      </p:sp>
      <p:sp>
        <p:nvSpPr>
          <p:cNvPr id="750" name="Google Shape;750;p41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Checkpoint 2 — build an image, run a container</a:t>
            </a:r>
            <a:endParaRPr/>
          </a:p>
        </p:txBody>
      </p:sp>
      <p:sp>
        <p:nvSpPr>
          <p:cNvPr id="751" name="Google Shape;751;p41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2" name="Google Shape;752;p41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cd checkpoints/02-docker-single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-t nsu-guestbook:v1 .     # build twice: the second is instant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docker run --rm -p 8080:3000 nsu-guestbook:v1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[db] not ready: connect ECONNREFUSED 127.0.0.1:5432    &lt;- expected!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docker exec -it gb sh                  # look around inside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cat /etc/os-release                  # Alpine... on your Ubuntu laptop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  whoami                               # node, not root</a:t>
            </a:r>
            <a:endParaRPr/>
          </a:p>
        </p:txBody>
      </p:sp>
      <p:sp>
        <p:nvSpPr>
          <p:cNvPr id="753" name="Google Shape;753;p41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4" name="Google Shape;754;p41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It fails on purpose. `localhost` inside the container IS the container — the networking slide, made real.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2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pods -w</a:t>
            </a:r>
            <a:endParaRPr/>
          </a:p>
        </p:txBody>
      </p:sp>
      <p:sp>
        <p:nvSpPr>
          <p:cNvPr id="760" name="Google Shape;760;p42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controller-manager</a:t>
            </a:r>
            <a:endParaRPr/>
          </a:p>
        </p:txBody>
      </p:sp>
      <p:sp>
        <p:nvSpPr>
          <p:cNvPr id="761" name="Google Shape;761;p42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StorageClass</a:t>
            </a:r>
            <a:endParaRPr/>
          </a:p>
        </p:txBody>
      </p:sp>
      <p:sp>
        <p:nvSpPr>
          <p:cNvPr id="762" name="Google Shape;762;p42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Checkpoint 3 — two containers, one command</a:t>
            </a:r>
            <a:endParaRPr/>
          </a:p>
        </p:txBody>
      </p:sp>
      <p:sp>
        <p:nvSpPr>
          <p:cNvPr id="763" name="Google Shape;763;p42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4" name="Google Shape;764;p42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cd checkpoints/03-compose-db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--build      # -&gt; http://localhost:8080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the volume lesson -- do this live: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down            # containers destroyed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-d           # brand new containers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  refresh: your guestbook entries are STILL THERE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down -v         # -v also deletes the volume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  refresh: now they are gone</a:t>
            </a:r>
            <a:endParaRPr/>
          </a:p>
        </p:txBody>
      </p:sp>
      <p:sp>
        <p:nvSpPr>
          <p:cNvPr id="765" name="Google Shape;765;p42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6" name="Google Shape;766;p42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The app finally works, on any machine, with one command. And the data outlives the container that wrote it.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3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ReplicaSet</a:t>
            </a:r>
            <a:endParaRPr/>
          </a:p>
        </p:txBody>
      </p:sp>
      <p:sp>
        <p:nvSpPr>
          <p:cNvPr id="772" name="Google Shape;772;p43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etcd</a:t>
            </a:r>
            <a:endParaRPr/>
          </a:p>
        </p:txBody>
      </p:sp>
      <p:sp>
        <p:nvSpPr>
          <p:cNvPr id="773" name="Google Shape;773;p43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Secret (base64!)</a:t>
            </a:r>
            <a:endParaRPr/>
          </a:p>
        </p:txBody>
      </p:sp>
      <p:sp>
        <p:nvSpPr>
          <p:cNvPr id="774" name="Google Shape;774;p43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Checkpoint 4 — the same image on a cluster</a:t>
            </a:r>
            <a:endParaRPr/>
          </a:p>
        </p:txBody>
      </p:sp>
      <p:sp>
        <p:nvSpPr>
          <p:cNvPr id="775" name="Google Shape;775;p43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6" name="Google Shape;776;p43"/>
          <p:cNvSpPr txBox="1"/>
          <p:nvPr/>
        </p:nvSpPr>
        <p:spPr>
          <a:xfrm>
            <a:off x="640080" y="1188720"/>
            <a:ext cx="10911840" cy="139636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kind create cluster --config kind-config.yaml   # Kubernetes IN Docker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nodes                              # 1 control-plane, 2 workers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docker ps                                      # the nodes ARE containers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kind load docker-image nsu-guestbook:v1 --name nsu   # its own image store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kubectl apply -f k8s/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all -n nsu-demo</a:t>
            </a:r>
            <a:endParaRPr/>
          </a:p>
        </p:txBody>
      </p:sp>
      <p:sp>
        <p:nvSpPr>
          <p:cNvPr id="777" name="Google Shape;777;p43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8" name="Google Shape;778;p43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Identical image. Namespace, Deployment, Service — the objects from Part 3, now real. Skip the `kind load` line and you get ImagePullBackOff, which is worth demoing on purpose.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4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-f deploy/api</a:t>
            </a:r>
            <a:endParaRPr/>
          </a:p>
        </p:txBody>
      </p:sp>
      <p:sp>
        <p:nvSpPr>
          <p:cNvPr id="784" name="Google Shape;784;p44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livenessProbe</a:t>
            </a:r>
            <a:endParaRPr/>
          </a:p>
        </p:txBody>
      </p:sp>
      <p:sp>
        <p:nvSpPr>
          <p:cNvPr id="785" name="Google Shape;785;p44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ImagePullBackOff</a:t>
            </a:r>
            <a:endParaRPr/>
          </a:p>
        </p:txBody>
      </p:sp>
      <p:sp>
        <p:nvSpPr>
          <p:cNvPr id="786" name="Google Shape;786;p44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Checkpoint 5 — scale, heal, ship</a:t>
            </a:r>
            <a:endParaRPr/>
          </a:p>
        </p:txBody>
      </p:sp>
      <p:sp>
        <p:nvSpPr>
          <p:cNvPr id="787" name="Google Shape;787;p44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8" name="Google Shape;788;p44"/>
          <p:cNvSpPr txBox="1"/>
          <p:nvPr/>
        </p:nvSpPr>
        <p:spPr>
          <a:xfrm>
            <a:off x="640080" y="1188720"/>
            <a:ext cx="10911840" cy="1743075"/>
          </a:xfrm>
          <a:prstGeom prst="rect">
            <a:avLst/>
          </a:prstGeom>
          <a:solidFill>
            <a:srgbClr val="EAE6D5"/>
          </a:solidFill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1. SCALE -- then refresh the browser and watch "Served by" change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kubectl scale deploy/api --replicas=5 -n nsu-demo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2. SELF-HEAL -- kill them all; replacements appear in seconds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pods -n nsu-demo -l app=api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>
              <a:solidFill>
                <a:srgbClr val="1D3A1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# 3. ROLLING UPDATE -- refresh throughout; it never errors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kubectl set env deploy/api APP_VERSION=v2 -n nsu-demo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050"/>
              <a:buFont typeface="Courier New"/>
              <a:buNone/>
            </a:pPr>
            <a:r>
              <a:rPr b="0" i="0" lang="en-US" sz="1050">
                <a:solidFill>
                  <a:srgbClr val="1D3A1C"/>
                </a:solidFill>
                <a:latin typeface="Courier New"/>
                <a:ea typeface="Courier New"/>
                <a:cs typeface="Courier New"/>
                <a:sym typeface="Courier New"/>
              </a:rPr>
              <a:t>kubectl rollout undo deploy/api -n nsu-demo</a:t>
            </a:r>
            <a:endParaRPr/>
          </a:p>
        </p:txBody>
      </p:sp>
      <p:sp>
        <p:nvSpPr>
          <p:cNvPr id="789" name="Google Shape;789;p44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0" name="Google Shape;790;p44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Three commands. Everything Part 3 promised, visible in ninety seconds. Keep localhost:8080 on the projector throughout.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5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NodePort 30080</a:t>
            </a:r>
            <a:endParaRPr/>
          </a:p>
        </p:txBody>
      </p:sp>
      <p:sp>
        <p:nvSpPr>
          <p:cNvPr id="796" name="Google Shape;796;p45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readinessProbe</a:t>
            </a:r>
            <a:endParaRPr/>
          </a:p>
        </p:txBody>
      </p:sp>
      <p:sp>
        <p:nvSpPr>
          <p:cNvPr id="797" name="Google Shape;797;p45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DaemonSet</a:t>
            </a:r>
            <a:endParaRPr/>
          </a:p>
        </p:txBody>
      </p:sp>
      <p:sp>
        <p:nvSpPr>
          <p:cNvPr id="798" name="Google Shape;798;p45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The entire session on one slide</a:t>
            </a:r>
            <a:endParaRPr/>
          </a:p>
        </p:txBody>
      </p:sp>
      <p:sp>
        <p:nvSpPr>
          <p:cNvPr id="799" name="Google Shape;799;p45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0" name="Google Shape;800;p45"/>
          <p:cNvSpPr/>
          <p:nvPr/>
        </p:nvSpPr>
        <p:spPr>
          <a:xfrm>
            <a:off x="640080" y="1188721"/>
            <a:ext cx="10911840" cy="602403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your code + its environment</a:t>
            </a:r>
            <a:endParaRPr/>
          </a:p>
        </p:txBody>
      </p:sp>
      <p:sp>
        <p:nvSpPr>
          <p:cNvPr id="801" name="Google Shape;801;p45"/>
          <p:cNvSpPr/>
          <p:nvPr/>
        </p:nvSpPr>
        <p:spPr>
          <a:xfrm>
            <a:off x="640080" y="2019724"/>
            <a:ext cx="10911840" cy="602403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/>
          </a:p>
        </p:txBody>
      </p:sp>
      <p:sp>
        <p:nvSpPr>
          <p:cNvPr id="802" name="Google Shape;802;p45"/>
          <p:cNvSpPr/>
          <p:nvPr/>
        </p:nvSpPr>
        <p:spPr>
          <a:xfrm>
            <a:off x="640080" y="2850727"/>
            <a:ext cx="10911840" cy="602403"/>
          </a:xfrm>
          <a:prstGeom prst="roundRect">
            <a:avLst>
              <a:gd fmla="val 12000" name="adj"/>
            </a:avLst>
          </a:prstGeom>
          <a:solidFill>
            <a:srgbClr val="EFEBDC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REGISTRY</a:t>
            </a:r>
            <a:endParaRPr/>
          </a:p>
        </p:txBody>
      </p:sp>
      <p:sp>
        <p:nvSpPr>
          <p:cNvPr id="803" name="Google Shape;803;p45"/>
          <p:cNvSpPr/>
          <p:nvPr/>
        </p:nvSpPr>
        <p:spPr>
          <a:xfrm>
            <a:off x="640080" y="3681730"/>
            <a:ext cx="10911840" cy="602403"/>
          </a:xfrm>
          <a:prstGeom prst="roundRect">
            <a:avLst>
              <a:gd fmla="val 12000" name="adj"/>
            </a:avLst>
          </a:prstGeom>
          <a:solidFill>
            <a:srgbClr val="7F9169"/>
          </a:solidFill>
          <a:ln cap="flat" cmpd="sng" w="1270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2250F"/>
                </a:solidFill>
                <a:latin typeface="Arial"/>
                <a:ea typeface="Arial"/>
                <a:cs typeface="Arial"/>
                <a:sym typeface="Arial"/>
              </a:rPr>
              <a:t>Deployment  →  ReplicaSet</a:t>
            </a:r>
            <a:endParaRPr/>
          </a:p>
        </p:txBody>
      </p:sp>
      <p:sp>
        <p:nvSpPr>
          <p:cNvPr id="804" name="Google Shape;804;p45"/>
          <p:cNvSpPr/>
          <p:nvPr/>
        </p:nvSpPr>
        <p:spPr>
          <a:xfrm>
            <a:off x="640080" y="4512733"/>
            <a:ext cx="3419043" cy="602403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</p:txBody>
      </p:sp>
      <p:sp>
        <p:nvSpPr>
          <p:cNvPr id="805" name="Google Shape;805;p45"/>
          <p:cNvSpPr/>
          <p:nvPr/>
        </p:nvSpPr>
        <p:spPr>
          <a:xfrm>
            <a:off x="4386478" y="4512733"/>
            <a:ext cx="3419043" cy="602403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</p:txBody>
      </p:sp>
      <p:sp>
        <p:nvSpPr>
          <p:cNvPr id="806" name="Google Shape;806;p45"/>
          <p:cNvSpPr/>
          <p:nvPr/>
        </p:nvSpPr>
        <p:spPr>
          <a:xfrm>
            <a:off x="8132876" y="4512733"/>
            <a:ext cx="3419043" cy="602403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12700">
            <a:solidFill>
              <a:srgbClr val="9BAA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Pod</a:t>
            </a:r>
            <a:endParaRPr/>
          </a:p>
        </p:txBody>
      </p:sp>
      <p:sp>
        <p:nvSpPr>
          <p:cNvPr id="807" name="Google Shape;807;p45"/>
          <p:cNvSpPr/>
          <p:nvPr/>
        </p:nvSpPr>
        <p:spPr>
          <a:xfrm>
            <a:off x="640080" y="5343736"/>
            <a:ext cx="10911840" cy="602403"/>
          </a:xfrm>
          <a:prstGeom prst="roundRect">
            <a:avLst>
              <a:gd fmla="val 12000" name="adj"/>
            </a:avLst>
          </a:prstGeom>
          <a:solidFill>
            <a:srgbClr val="1D3A1C"/>
          </a:solidFill>
          <a:ln cap="flat" cmpd="sng" w="12700">
            <a:solidFill>
              <a:srgbClr val="1D3A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45700" spcFirstLastPara="1" rIns="45700" wrap="square" tIns="27425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1150"/>
              <a:buFont typeface="Arial"/>
              <a:buNone/>
            </a:pPr>
            <a:r>
              <a:rPr b="1" i="0" lang="en-US" sz="115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Service "api"  →  users</a:t>
            </a:r>
            <a:endParaRPr/>
          </a:p>
        </p:txBody>
      </p:sp>
      <p:cxnSp>
        <p:nvCxnSpPr>
          <p:cNvPr id="808" name="Google Shape;808;p45"/>
          <p:cNvCxnSpPr/>
          <p:nvPr/>
        </p:nvCxnSpPr>
        <p:spPr>
          <a:xfrm>
            <a:off x="6096000" y="1813984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9" name="Google Shape;809;p45"/>
          <p:cNvSpPr txBox="1"/>
          <p:nvPr/>
        </p:nvSpPr>
        <p:spPr>
          <a:xfrm>
            <a:off x="640080" y="1714924"/>
            <a:ext cx="1091184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Dockerfile</a:t>
            </a:r>
            <a:endParaRPr/>
          </a:p>
        </p:txBody>
      </p:sp>
      <p:cxnSp>
        <p:nvCxnSpPr>
          <p:cNvPr id="810" name="Google Shape;810;p45"/>
          <p:cNvCxnSpPr/>
          <p:nvPr/>
        </p:nvCxnSpPr>
        <p:spPr>
          <a:xfrm>
            <a:off x="6096000" y="2644987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1" name="Google Shape;811;p45"/>
          <p:cNvSpPr txBox="1"/>
          <p:nvPr/>
        </p:nvSpPr>
        <p:spPr>
          <a:xfrm>
            <a:off x="640080" y="2545927"/>
            <a:ext cx="1091184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push / pull</a:t>
            </a:r>
            <a:endParaRPr/>
          </a:p>
        </p:txBody>
      </p:sp>
      <p:cxnSp>
        <p:nvCxnSpPr>
          <p:cNvPr id="812" name="Google Shape;812;p45"/>
          <p:cNvCxnSpPr/>
          <p:nvPr/>
        </p:nvCxnSpPr>
        <p:spPr>
          <a:xfrm>
            <a:off x="6096000" y="347599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3" name="Google Shape;813;p45"/>
          <p:cNvSpPr txBox="1"/>
          <p:nvPr/>
        </p:nvSpPr>
        <p:spPr>
          <a:xfrm>
            <a:off x="640080" y="3376930"/>
            <a:ext cx="1091184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900"/>
              <a:buFont typeface="Arial"/>
              <a:buNone/>
            </a:pPr>
            <a:r>
              <a:rPr b="0" i="1" lang="en-US" sz="90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"3 healthy copies"</a:t>
            </a:r>
            <a:endParaRPr/>
          </a:p>
        </p:txBody>
      </p:sp>
      <p:cxnSp>
        <p:nvCxnSpPr>
          <p:cNvPr id="814" name="Google Shape;814;p45"/>
          <p:cNvCxnSpPr/>
          <p:nvPr/>
        </p:nvCxnSpPr>
        <p:spPr>
          <a:xfrm>
            <a:off x="6096000" y="4306993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45"/>
          <p:cNvCxnSpPr/>
          <p:nvPr/>
        </p:nvCxnSpPr>
        <p:spPr>
          <a:xfrm>
            <a:off x="2349601" y="4398433"/>
            <a:ext cx="7492796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45"/>
          <p:cNvCxnSpPr/>
          <p:nvPr/>
        </p:nvCxnSpPr>
        <p:spPr>
          <a:xfrm>
            <a:off x="2349601" y="4398433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7" name="Google Shape;817;p45"/>
          <p:cNvCxnSpPr/>
          <p:nvPr/>
        </p:nvCxnSpPr>
        <p:spPr>
          <a:xfrm>
            <a:off x="6095999" y="4398433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8" name="Google Shape;818;p45"/>
          <p:cNvCxnSpPr/>
          <p:nvPr/>
        </p:nvCxnSpPr>
        <p:spPr>
          <a:xfrm>
            <a:off x="9842397" y="4398433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9" name="Google Shape;819;p45"/>
          <p:cNvCxnSpPr/>
          <p:nvPr/>
        </p:nvCxnSpPr>
        <p:spPr>
          <a:xfrm>
            <a:off x="2349601" y="5137996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45"/>
          <p:cNvCxnSpPr/>
          <p:nvPr/>
        </p:nvCxnSpPr>
        <p:spPr>
          <a:xfrm>
            <a:off x="6095999" y="5137996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p45"/>
          <p:cNvCxnSpPr/>
          <p:nvPr/>
        </p:nvCxnSpPr>
        <p:spPr>
          <a:xfrm>
            <a:off x="9842397" y="5137996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2" name="Google Shape;822;p45"/>
          <p:cNvCxnSpPr/>
          <p:nvPr/>
        </p:nvCxnSpPr>
        <p:spPr>
          <a:xfrm>
            <a:off x="2349601" y="5229436"/>
            <a:ext cx="7492796" cy="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45"/>
          <p:cNvCxnSpPr/>
          <p:nvPr/>
        </p:nvCxnSpPr>
        <p:spPr>
          <a:xfrm>
            <a:off x="6096000" y="5229436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7F916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4" name="Google Shape;824;p45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5" name="Google Shape;825;p45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One image. Many identical pods. One stable name. A controller that never stops checking.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6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kube-scheduler</a:t>
            </a:r>
            <a:endParaRPr/>
          </a:p>
        </p:txBody>
      </p:sp>
      <p:sp>
        <p:nvSpPr>
          <p:cNvPr id="831" name="Google Shape;831;p46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rollout undo</a:t>
            </a:r>
            <a:endParaRPr/>
          </a:p>
        </p:txBody>
      </p:sp>
      <p:sp>
        <p:nvSpPr>
          <p:cNvPr id="832" name="Google Shape;832;p46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StatefulSet</a:t>
            </a:r>
            <a:endParaRPr/>
          </a:p>
        </p:txBody>
      </p:sp>
      <p:sp>
        <p:nvSpPr>
          <p:cNvPr id="833" name="Google Shape;833;p46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Compose and Kubernetes are the same ideas, renamed</a:t>
            </a:r>
            <a:endParaRPr/>
          </a:p>
        </p:txBody>
      </p:sp>
      <p:sp>
        <p:nvSpPr>
          <p:cNvPr id="834" name="Google Shape;834;p46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835" name="Google Shape;835;p46"/>
          <p:cNvGraphicFramePr/>
          <p:nvPr/>
        </p:nvGraphicFramePr>
        <p:xfrm>
          <a:off x="64008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{1EF3750A-E343-448E-A563-E3EC63897067}</a:tableStyleId>
              </a:tblPr>
              <a:tblGrid>
                <a:gridCol w="5455925"/>
                <a:gridCol w="54559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Docker Compose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7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6F3E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Kubernetes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D3A1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+ Service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docker compose 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apply -f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container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 (which contains containers)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name as hostname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name as hostname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named volume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PersistentVolumeClaim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environment: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ConfigMap and Secret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healthcheck: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liveness and readiness probes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CFAF2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(not available)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3A1C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3A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replicas, self-healing, rolling updates, scheduling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FEBDC"/>
                    </a:solidFill>
                  </a:tcPr>
                </a:tc>
              </a:tr>
            </a:tbl>
          </a:graphicData>
        </a:graphic>
      </p:graphicFrame>
      <p:sp>
        <p:nvSpPr>
          <p:cNvPr id="836" name="Google Shape;836;p46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7" name="Google Shape;837;p46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You already understood most of Kubernetes by the end of Part 2. It just used different words.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7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7"/>
          <p:cNvSpPr txBox="1"/>
          <p:nvPr/>
        </p:nvSpPr>
        <p:spPr>
          <a:xfrm>
            <a:off x="6096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kube-proxy</a:t>
            </a:r>
            <a:endParaRPr/>
          </a:p>
        </p:txBody>
      </p:sp>
      <p:sp>
        <p:nvSpPr>
          <p:cNvPr id="843" name="Google Shape;843;p47"/>
          <p:cNvSpPr txBox="1"/>
          <p:nvPr/>
        </p:nvSpPr>
        <p:spPr>
          <a:xfrm>
            <a:off x="7315200" y="652881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StorageClass</a:t>
            </a:r>
            <a:endParaRPr/>
          </a:p>
        </p:txBody>
      </p:sp>
      <p:sp>
        <p:nvSpPr>
          <p:cNvPr id="844" name="Google Shape;844;p47"/>
          <p:cNvSpPr txBox="1"/>
          <p:nvPr/>
        </p:nvSpPr>
        <p:spPr>
          <a:xfrm>
            <a:off x="9022080" y="82296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2D2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E6E2D2"/>
                </a:solidFill>
                <a:latin typeface="Courier New"/>
                <a:ea typeface="Courier New"/>
                <a:cs typeface="Courier New"/>
                <a:sym typeface="Courier New"/>
              </a:rPr>
              <a:t>cpu: 50m</a:t>
            </a:r>
            <a:endParaRPr/>
          </a:p>
        </p:txBody>
      </p:sp>
      <p:sp>
        <p:nvSpPr>
          <p:cNvPr id="845" name="Google Shape;845;p47"/>
          <p:cNvSpPr txBox="1"/>
          <p:nvPr/>
        </p:nvSpPr>
        <p:spPr>
          <a:xfrm>
            <a:off x="640080" y="384048"/>
            <a:ext cx="1091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2200"/>
              <a:buFont typeface="Arial"/>
              <a:buNone/>
            </a:pPr>
            <a:r>
              <a:rPr b="1" i="0" lang="en-US" sz="22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If you remember only five things</a:t>
            </a:r>
            <a:endParaRPr/>
          </a:p>
        </p:txBody>
      </p:sp>
      <p:sp>
        <p:nvSpPr>
          <p:cNvPr id="846" name="Google Shape;846;p47"/>
          <p:cNvSpPr/>
          <p:nvPr/>
        </p:nvSpPr>
        <p:spPr>
          <a:xfrm>
            <a:off x="731520" y="978408"/>
            <a:ext cx="73152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7" name="Google Shape;847;p47"/>
          <p:cNvSpPr txBox="1"/>
          <p:nvPr/>
        </p:nvSpPr>
        <p:spPr>
          <a:xfrm>
            <a:off x="9260433" y="1188720"/>
            <a:ext cx="2291487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3A1C"/>
              </a:buClr>
              <a:buSzPts val="5400"/>
              <a:buFont typeface="Arial"/>
              <a:buNone/>
            </a:pPr>
            <a:r>
              <a:rPr b="0" i="0" lang="en-US" sz="5400">
                <a:solidFill>
                  <a:srgbClr val="1D3A1C"/>
                </a:solidFill>
              </a:rPr>
              <a:t>⭐</a:t>
            </a:r>
            <a:endParaRPr/>
          </a:p>
        </p:txBody>
      </p:sp>
      <p:sp>
        <p:nvSpPr>
          <p:cNvPr id="848" name="Google Shape;848;p47"/>
          <p:cNvSpPr txBox="1"/>
          <p:nvPr/>
        </p:nvSpPr>
        <p:spPr>
          <a:xfrm>
            <a:off x="640080" y="1188720"/>
            <a:ext cx="8620353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-228600" lvl="0" marL="228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An app is code PLUS its environment — that is why shipping code alone fails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 container is a normal process the kernel has isolated. Not a small VM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An image is the frozen recipe; a container is a running instance of it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Kubernetes compares desired state with actual state, forever</a:t>
            </a:r>
            <a:endParaRPr/>
          </a:p>
          <a:p>
            <a:pPr indent="-228600" lvl="0" marL="22860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7F9169"/>
              </a:buClr>
              <a:buSzPts val="1425"/>
              <a:buFont typeface="Arial"/>
              <a:buChar char="▪"/>
            </a:pPr>
            <a:r>
              <a:rPr b="0" i="0" lang="en-US" sz="1500">
                <a:solidFill>
                  <a:srgbClr val="1D3A1C"/>
                </a:solidFill>
                <a:latin typeface="Arial"/>
                <a:ea typeface="Arial"/>
                <a:cs typeface="Arial"/>
                <a:sym typeface="Arial"/>
              </a:rPr>
              <a:t>Anything you care about keeping must live OUTSIDE the container</a:t>
            </a:r>
            <a:endParaRPr/>
          </a:p>
        </p:txBody>
      </p:sp>
      <p:sp>
        <p:nvSpPr>
          <p:cNvPr id="849" name="Google Shape;849;p47"/>
          <p:cNvSpPr/>
          <p:nvPr/>
        </p:nvSpPr>
        <p:spPr>
          <a:xfrm>
            <a:off x="640080" y="5984720"/>
            <a:ext cx="10911840" cy="12700"/>
          </a:xfrm>
          <a:prstGeom prst="rect">
            <a:avLst/>
          </a:prstGeom>
          <a:solidFill>
            <a:srgbClr val="D8D4C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0" name="Google Shape;850;p47"/>
          <p:cNvSpPr txBox="1"/>
          <p:nvPr/>
        </p:nvSpPr>
        <p:spPr>
          <a:xfrm>
            <a:off x="640080" y="6014720"/>
            <a:ext cx="1091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52"/>
              </a:buClr>
              <a:buSzPts val="1150"/>
              <a:buFont typeface="Arial"/>
              <a:buNone/>
            </a:pPr>
            <a:r>
              <a:rPr b="0" i="1" lang="en-US" sz="1150">
                <a:solidFill>
                  <a:srgbClr val="5C6B52"/>
                </a:solidFill>
                <a:latin typeface="Arial"/>
                <a:ea typeface="Arial"/>
                <a:cs typeface="Arial"/>
                <a:sym typeface="Arial"/>
              </a:rPr>
              <a:t>Next: containerise one project of your own this week — that is the whole homework. Then kubernetes.io/docs/tutorials/kubernetes-basics, then Ingress, then Helm. Learn `kubectl describe` before anything else.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3A1C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8"/>
          <p:cNvSpPr txBox="1"/>
          <p:nvPr/>
        </p:nvSpPr>
        <p:spPr>
          <a:xfrm>
            <a:off x="316992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kube-scheduler</a:t>
            </a:r>
            <a:endParaRPr/>
          </a:p>
        </p:txBody>
      </p:sp>
      <p:sp>
        <p:nvSpPr>
          <p:cNvPr id="856" name="Google Shape;856;p48"/>
          <p:cNvSpPr txBox="1"/>
          <p:nvPr/>
        </p:nvSpPr>
        <p:spPr>
          <a:xfrm>
            <a:off x="8290560" y="63779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controller-manager</a:t>
            </a:r>
            <a:endParaRPr/>
          </a:p>
        </p:txBody>
      </p:sp>
      <p:sp>
        <p:nvSpPr>
          <p:cNvPr id="857" name="Google Shape;857;p48"/>
          <p:cNvSpPr txBox="1"/>
          <p:nvPr/>
        </p:nvSpPr>
        <p:spPr>
          <a:xfrm>
            <a:off x="48768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livenessProbe</a:t>
            </a:r>
            <a:endParaRPr/>
          </a:p>
        </p:txBody>
      </p:sp>
      <p:sp>
        <p:nvSpPr>
          <p:cNvPr id="858" name="Google Shape;858;p48"/>
          <p:cNvSpPr txBox="1"/>
          <p:nvPr/>
        </p:nvSpPr>
        <p:spPr>
          <a:xfrm>
            <a:off x="585216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rollout undo</a:t>
            </a:r>
            <a:endParaRPr/>
          </a:p>
        </p:txBody>
      </p:sp>
      <p:sp>
        <p:nvSpPr>
          <p:cNvPr id="859" name="Google Shape;859;p48"/>
          <p:cNvSpPr txBox="1"/>
          <p:nvPr/>
        </p:nvSpPr>
        <p:spPr>
          <a:xfrm>
            <a:off x="10485120" y="60350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livenessProbe</a:t>
            </a:r>
            <a:endParaRPr/>
          </a:p>
        </p:txBody>
      </p:sp>
      <p:sp>
        <p:nvSpPr>
          <p:cNvPr id="860" name="Google Shape;860;p48"/>
          <p:cNvSpPr txBox="1"/>
          <p:nvPr/>
        </p:nvSpPr>
        <p:spPr>
          <a:xfrm>
            <a:off x="10363200" y="45262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maxUnavailable: 0</a:t>
            </a:r>
            <a:endParaRPr/>
          </a:p>
        </p:txBody>
      </p:sp>
      <p:sp>
        <p:nvSpPr>
          <p:cNvPr id="861" name="Google Shape;861;p48"/>
          <p:cNvSpPr txBox="1"/>
          <p:nvPr/>
        </p:nvSpPr>
        <p:spPr>
          <a:xfrm>
            <a:off x="121920" y="43205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Secret (base64!)</a:t>
            </a:r>
            <a:endParaRPr/>
          </a:p>
        </p:txBody>
      </p:sp>
      <p:sp>
        <p:nvSpPr>
          <p:cNvPr id="862" name="Google Shape;862;p48"/>
          <p:cNvSpPr txBox="1"/>
          <p:nvPr/>
        </p:nvSpPr>
        <p:spPr>
          <a:xfrm>
            <a:off x="10119360" y="33604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CrashLoopBackOff</a:t>
            </a:r>
            <a:endParaRPr/>
          </a:p>
        </p:txBody>
      </p:sp>
      <p:sp>
        <p:nvSpPr>
          <p:cNvPr id="863" name="Google Shape;863;p48"/>
          <p:cNvSpPr txBox="1"/>
          <p:nvPr/>
        </p:nvSpPr>
        <p:spPr>
          <a:xfrm>
            <a:off x="243840" y="31546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PersistentVolumeClaim</a:t>
            </a:r>
            <a:endParaRPr/>
          </a:p>
        </p:txBody>
      </p:sp>
      <p:sp>
        <p:nvSpPr>
          <p:cNvPr id="864" name="Google Shape;864;p48"/>
          <p:cNvSpPr txBox="1"/>
          <p:nvPr/>
        </p:nvSpPr>
        <p:spPr>
          <a:xfrm>
            <a:off x="10485120" y="212598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ImagePullBackOff</a:t>
            </a:r>
            <a:endParaRPr/>
          </a:p>
        </p:txBody>
      </p:sp>
      <p:sp>
        <p:nvSpPr>
          <p:cNvPr id="865" name="Google Shape;865;p48"/>
          <p:cNvSpPr txBox="1"/>
          <p:nvPr/>
        </p:nvSpPr>
        <p:spPr>
          <a:xfrm>
            <a:off x="121920" y="1988819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StorageClass</a:t>
            </a:r>
            <a:endParaRPr/>
          </a:p>
        </p:txBody>
      </p:sp>
      <p:sp>
        <p:nvSpPr>
          <p:cNvPr id="866" name="Google Shape;866;p48"/>
          <p:cNvSpPr txBox="1"/>
          <p:nvPr/>
        </p:nvSpPr>
        <p:spPr>
          <a:xfrm>
            <a:off x="2682240" y="5486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StatefulSet</a:t>
            </a:r>
            <a:endParaRPr/>
          </a:p>
        </p:txBody>
      </p:sp>
      <p:sp>
        <p:nvSpPr>
          <p:cNvPr id="867" name="Google Shape;867;p48"/>
          <p:cNvSpPr txBox="1"/>
          <p:nvPr/>
        </p:nvSpPr>
        <p:spPr>
          <a:xfrm>
            <a:off x="8046720" y="48006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000"/>
              <a:buFont typeface="Courier New"/>
              <a:buNone/>
            </a:pPr>
            <a:r>
              <a:rPr b="0" i="0" lang="en-US" sz="10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cpu: 50m</a:t>
            </a:r>
            <a:endParaRPr/>
          </a:p>
        </p:txBody>
      </p:sp>
      <p:sp>
        <p:nvSpPr>
          <p:cNvPr id="868" name="Google Shape;868;p48"/>
          <p:cNvSpPr txBox="1"/>
          <p:nvPr/>
        </p:nvSpPr>
        <p:spPr>
          <a:xfrm>
            <a:off x="243840" y="27432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StatefulSet</a:t>
            </a:r>
            <a:endParaRPr/>
          </a:p>
        </p:txBody>
      </p:sp>
      <p:sp>
        <p:nvSpPr>
          <p:cNvPr id="869" name="Google Shape;869;p48"/>
          <p:cNvSpPr txBox="1"/>
          <p:nvPr/>
        </p:nvSpPr>
        <p:spPr>
          <a:xfrm>
            <a:off x="548640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kubectl scale --replicas=5</a:t>
            </a:r>
            <a:endParaRPr/>
          </a:p>
        </p:txBody>
      </p:sp>
      <p:sp>
        <p:nvSpPr>
          <p:cNvPr id="870" name="Google Shape;870;p48"/>
          <p:cNvSpPr txBox="1"/>
          <p:nvPr/>
        </p:nvSpPr>
        <p:spPr>
          <a:xfrm>
            <a:off x="10241280" y="205740"/>
            <a:ext cx="34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4D28"/>
              </a:buClr>
              <a:buSzPts val="1100"/>
              <a:buFont typeface="Courier New"/>
              <a:buNone/>
            </a:pPr>
            <a:r>
              <a:rPr b="0" i="0" lang="en-US" sz="1100">
                <a:solidFill>
                  <a:srgbClr val="2A4D28"/>
                </a:solidFill>
                <a:latin typeface="Courier New"/>
                <a:ea typeface="Courier New"/>
                <a:cs typeface="Courier New"/>
                <a:sym typeface="Courier New"/>
              </a:rPr>
              <a:t>memory: 256Mi</a:t>
            </a:r>
            <a:endParaRPr/>
          </a:p>
        </p:txBody>
      </p:sp>
      <p:sp>
        <p:nvSpPr>
          <p:cNvPr id="871" name="Google Shape;871;p48"/>
          <p:cNvSpPr/>
          <p:nvPr/>
        </p:nvSpPr>
        <p:spPr>
          <a:xfrm>
            <a:off x="5295900" y="1508760"/>
            <a:ext cx="1600200" cy="274320"/>
          </a:xfrm>
          <a:prstGeom prst="roundRect">
            <a:avLst>
              <a:gd fmla="val 50000" name="adj"/>
            </a:avLst>
          </a:prstGeom>
          <a:solidFill>
            <a:srgbClr val="7F91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50F"/>
              </a:buClr>
              <a:buSzPts val="900"/>
              <a:buFont typeface="Courier New"/>
              <a:buNone/>
            </a:pPr>
            <a:r>
              <a:rPr b="1" i="0" lang="en-US" sz="900">
                <a:solidFill>
                  <a:srgbClr val="12250F"/>
                </a:solidFill>
                <a:latin typeface="Courier New"/>
                <a:ea typeface="Courier New"/>
                <a:cs typeface="Courier New"/>
                <a:sym typeface="Courier New"/>
              </a:rPr>
              <a:t>CHAPTER</a:t>
            </a:r>
            <a:endParaRPr/>
          </a:p>
        </p:txBody>
      </p:sp>
      <p:sp>
        <p:nvSpPr>
          <p:cNvPr id="872" name="Google Shape;872;p48"/>
          <p:cNvSpPr txBox="1"/>
          <p:nvPr/>
        </p:nvSpPr>
        <p:spPr>
          <a:xfrm>
            <a:off x="640080" y="2263140"/>
            <a:ext cx="1091184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3E7"/>
              </a:buClr>
              <a:buSzPts val="3200"/>
              <a:buFont typeface="Arial"/>
              <a:buNone/>
            </a:pPr>
            <a:r>
              <a:rPr b="1" i="0" lang="en-US" sz="3200">
                <a:solidFill>
                  <a:srgbClr val="F6F3E7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873" name="Google Shape;873;p48"/>
          <p:cNvSpPr/>
          <p:nvPr/>
        </p:nvSpPr>
        <p:spPr>
          <a:xfrm>
            <a:off x="5638800" y="3423140"/>
            <a:ext cx="914400" cy="41148"/>
          </a:xfrm>
          <a:prstGeom prst="rect">
            <a:avLst/>
          </a:prstGeom>
          <a:solidFill>
            <a:srgbClr val="7F91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4" name="Google Shape;874;p48"/>
          <p:cNvSpPr txBox="1"/>
          <p:nvPr/>
        </p:nvSpPr>
        <p:spPr>
          <a:xfrm>
            <a:off x="640080" y="3563140"/>
            <a:ext cx="1091184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91425" spcFirstLastPara="1" rIns="91425" wrap="square" tIns="68575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FC0A0"/>
              </a:buClr>
              <a:buSzPts val="1500"/>
              <a:buFont typeface="Arial"/>
              <a:buNone/>
            </a:pPr>
            <a:r>
              <a:rPr b="0" i="0" lang="en-US" sz="1500">
                <a:solidFill>
                  <a:srgbClr val="AFC0A0"/>
                </a:solidFill>
                <a:latin typeface="Arial"/>
                <a:ea typeface="Arial"/>
                <a:cs typeface="Arial"/>
                <a:sym typeface="Arial"/>
              </a:rPr>
              <a:t>Slides, checkpoints and a cheat sheet are all in the repo — 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SU">
  <a:themeElements>
    <a:clrScheme name="NSU">
      <a:dk1>
        <a:srgbClr val="000000"/>
      </a:dk1>
      <a:lt1>
        <a:srgbClr val="FFFFFF"/>
      </a:lt1>
      <a:dk2>
        <a:srgbClr val="1D3A1C"/>
      </a:dk2>
      <a:lt2>
        <a:srgbClr val="F6F3E7"/>
      </a:lt2>
      <a:accent1>
        <a:srgbClr val="3E6B33"/>
      </a:accent1>
      <a:accent2>
        <a:srgbClr val="7F9169"/>
      </a:accent2>
      <a:accent3>
        <a:srgbClr val="D9A441"/>
      </a:accent3>
      <a:accent4>
        <a:srgbClr val="B5533C"/>
      </a:accent4>
      <a:accent5>
        <a:srgbClr val="5C6B52"/>
      </a:accent5>
      <a:accent6>
        <a:srgbClr val="EAE6D5"/>
      </a:accent6>
      <a:hlink>
        <a:srgbClr val="3E6B33"/>
      </a:hlink>
      <a:folHlink>
        <a:srgbClr val="7F91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SU">
  <a:themeElements>
    <a:clrScheme name="NSU">
      <a:dk1>
        <a:srgbClr val="000000"/>
      </a:dk1>
      <a:lt1>
        <a:srgbClr val="FFFFFF"/>
      </a:lt1>
      <a:dk2>
        <a:srgbClr val="1D3A1C"/>
      </a:dk2>
      <a:lt2>
        <a:srgbClr val="F6F3E7"/>
      </a:lt2>
      <a:accent1>
        <a:srgbClr val="3E6B33"/>
      </a:accent1>
      <a:accent2>
        <a:srgbClr val="7F9169"/>
      </a:accent2>
      <a:accent3>
        <a:srgbClr val="D9A441"/>
      </a:accent3>
      <a:accent4>
        <a:srgbClr val="B5533C"/>
      </a:accent4>
      <a:accent5>
        <a:srgbClr val="5C6B52"/>
      </a:accent5>
      <a:accent6>
        <a:srgbClr val="EAE6D5"/>
      </a:accent6>
      <a:hlink>
        <a:srgbClr val="3E6B33"/>
      </a:hlink>
      <a:folHlink>
        <a:srgbClr val="7F91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